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26fc43bc264795" /><Relationship Type="http://schemas.openxmlformats.org/officeDocument/2006/relationships/extended-properties" Target="/docProps/app.xml" Id="Rf99c66d5366a4004" /><Relationship Type="http://schemas.openxmlformats.org/officeDocument/2006/relationships/officeDocument" Target="/ppt/presentation.xml" Id="R989cd7a56067456c" /></Relationships>
</file>

<file path=ppt/presentation.xml><?xml version="1.0" encoding="utf-8"?>
<p:presentation xmlns:p="http://schemas.openxmlformats.org/presentationml/2006/main">
  <p:sldMasterIdLst>
    <p:sldMasterId xmlns:r="http://schemas.openxmlformats.org/officeDocument/2006/relationships" id="2147483648" r:id="R08d2e6f7e1a34ed3"/>
  </p:sldMasterIdLst>
  <p:notesMasterIdLst>
    <p:notesMasterId xmlns:r="http://schemas.openxmlformats.org/officeDocument/2006/relationships" r:id="R17375eeaaf6e427c"/>
  </p:notesMasterIdLst>
  <p:sldIdLst>
    <p:sldId xmlns:r="http://schemas.openxmlformats.org/officeDocument/2006/relationships" id="256" r:id="Ra799aaf6c2e1490b"/>
    <p:sldId xmlns:r="http://schemas.openxmlformats.org/officeDocument/2006/relationships" id="257" r:id="R69d3c6849ca842d1"/>
    <p:sldId xmlns:r="http://schemas.openxmlformats.org/officeDocument/2006/relationships" id="258" r:id="R2301bc1b8c6a429f"/>
    <p:sldId xmlns:r="http://schemas.openxmlformats.org/officeDocument/2006/relationships" id="259" r:id="Rf429ee60d3d14116"/>
    <p:sldId xmlns:r="http://schemas.openxmlformats.org/officeDocument/2006/relationships" id="260" r:id="Rd6bd020e6097445f"/>
    <p:sldId xmlns:r="http://schemas.openxmlformats.org/officeDocument/2006/relationships" id="261" r:id="R1ee793d591fe4e9b"/>
    <p:sldId xmlns:r="http://schemas.openxmlformats.org/officeDocument/2006/relationships" id="262" r:id="R48b731bfd56a457a"/>
    <p:sldId xmlns:r="http://schemas.openxmlformats.org/officeDocument/2006/relationships" id="263" r:id="Rc7d4bb1d95fa49a7"/>
    <p:sldId xmlns:r="http://schemas.openxmlformats.org/officeDocument/2006/relationships" id="264" r:id="Rd89813c08ae24adf"/>
    <p:sldId xmlns:r="http://schemas.openxmlformats.org/officeDocument/2006/relationships" id="265" r:id="Rf56b4ef23cdf4d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cd77aaa5e54a44" /><Relationship Type="http://schemas.openxmlformats.org/officeDocument/2006/relationships/slideMaster" Target="/ppt/slideMasters/slideMaster1.xml" Id="R08d2e6f7e1a34ed3" /><Relationship Type="http://schemas.openxmlformats.org/officeDocument/2006/relationships/notesMaster" Target="/ppt/notesMasters/notesMaster1.xml" Id="R17375eeaaf6e427c" /><Relationship Type="http://schemas.openxmlformats.org/officeDocument/2006/relationships/presProps" Target="/ppt/presProps.xml" Id="R5bd95953a6334e05" /><Relationship Type="http://schemas.openxmlformats.org/officeDocument/2006/relationships/tableStyles" Target="/ppt/tableStyles.xml" Id="Rea42624c48f74b96" /><Relationship Type="http://schemas.openxmlformats.org/officeDocument/2006/relationships/slide" Target="/ppt/slides/slide1.xml" Id="Ra799aaf6c2e1490b" /><Relationship Type="http://schemas.openxmlformats.org/officeDocument/2006/relationships/slide" Target="/ppt/slides/slide2.xml" Id="R69d3c6849ca842d1" /><Relationship Type="http://schemas.openxmlformats.org/officeDocument/2006/relationships/slide" Target="/ppt/slides/slide3.xml" Id="R2301bc1b8c6a429f" /><Relationship Type="http://schemas.openxmlformats.org/officeDocument/2006/relationships/slide" Target="/ppt/slides/slide4.xml" Id="Rf429ee60d3d14116" /><Relationship Type="http://schemas.openxmlformats.org/officeDocument/2006/relationships/slide" Target="/ppt/slides/slide5.xml" Id="Rd6bd020e6097445f" /><Relationship Type="http://schemas.openxmlformats.org/officeDocument/2006/relationships/slide" Target="/ppt/slides/slide6.xml" Id="R1ee793d591fe4e9b" /><Relationship Type="http://schemas.openxmlformats.org/officeDocument/2006/relationships/slide" Target="/ppt/slides/slide7.xml" Id="R48b731bfd56a457a" /><Relationship Type="http://schemas.openxmlformats.org/officeDocument/2006/relationships/slide" Target="/ppt/slides/slide8.xml" Id="Rc7d4bb1d95fa49a7" /><Relationship Type="http://schemas.openxmlformats.org/officeDocument/2006/relationships/slide" Target="/ppt/slides/slide9.xml" Id="Rd89813c08ae24adf" /><Relationship Type="http://schemas.openxmlformats.org/officeDocument/2006/relationships/slide" Target="/ppt/slides/slide10.xml" Id="Rf56b4ef23cdf4d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04c4588b4248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Karate Project">
  <a:themeElements>
    <a:clrScheme name="Karate 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Karate Projec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8b614ed4ab452a" /><Relationship Type="http://schemas.openxmlformats.org/officeDocument/2006/relationships/notesMaster" Target="/ppt/notesMasters/notesMaster1.xml" Id="Rdea77f5f365e4b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4932d09a074497" /><Relationship Type="http://schemas.openxmlformats.org/officeDocument/2006/relationships/notesMaster" Target="/ppt/notesMasters/notesMaster1.xml" Id="R9247c625ebb843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a5b730fdee4173" /><Relationship Type="http://schemas.openxmlformats.org/officeDocument/2006/relationships/notesMaster" Target="/ppt/notesMasters/notesMaster1.xml" Id="R019616a15e5f40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d3ba5a5f0d4c54" /><Relationship Type="http://schemas.openxmlformats.org/officeDocument/2006/relationships/notesMaster" Target="/ppt/notesMasters/notesMaster1.xml" Id="R6927b605425a44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8a484495fb4329" /><Relationship Type="http://schemas.openxmlformats.org/officeDocument/2006/relationships/notesMaster" Target="/ppt/notesMasters/notesMaster1.xml" Id="R598020c9465c49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30a5f576e8410d" /><Relationship Type="http://schemas.openxmlformats.org/officeDocument/2006/relationships/notesMaster" Target="/ppt/notesMasters/notesMaster1.xml" Id="R45f435a39e3d42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716f5fec064514" /><Relationship Type="http://schemas.openxmlformats.org/officeDocument/2006/relationships/notesMaster" Target="/ppt/notesMasters/notesMaster1.xml" Id="R618acdba61eb45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8c3b8c74204198" /><Relationship Type="http://schemas.openxmlformats.org/officeDocument/2006/relationships/notesMaster" Target="/ppt/notesMasters/notesMaster1.xml" Id="R500c0463692449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fe15cfb1b14ea3" /><Relationship Type="http://schemas.openxmlformats.org/officeDocument/2006/relationships/notesMaster" Target="/ppt/notesMasters/notesMaster1.xml" Id="R498e1bcec6e440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ac63f304854b44" /><Relationship Type="http://schemas.openxmlformats.org/officeDocument/2006/relationships/notesMaster" Target="/ppt/notesMasters/notesMaster1.xml" Id="Rb74e5770865240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sunumda 34 üyeli gerçek bir sosyal ağın yapısını, merkez aktörlerini ve topluluk ayrımını inceleyeceğim. Ana sorum şu: Çatışma sonrasında gerçekleşen bölünme, çatışmadan önceki bağlantı örüntüsünde görülebiliyor muydu?</a:t>
            </a:r>
          </a:p>
          <a:p xmlns:a="http://schemas.openxmlformats.org/drawingml/2006/main">
            <a:r>
              <a:t/>
            </a:r>
          </a:p>
          <a:p xmlns:a="http://schemas.openxmlformats.org/drawingml/2006/main">
            <a:r>
              <a:t>[Sources]</a:t>
            </a:r>
          </a:p>
          <a:p xmlns:a="http://schemas.openxmlformats.org/drawingml/2006/main">
            <a:r>
              <a:t>- Zachary (1977), https://doi.org/10.1086/jar.33.4.3629752</a:t>
            </a:r>
          </a:p>
          <a:p xmlns:a="http://schemas.openxmlformats.org/drawingml/2006/main">
            <a:r>
              <a:t>- Hagberg, Schult &amp; Swart (2008), NetworkX.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 Zachary'nin yaklaşık üç yıllık gözlemine dayanıyor. Düğümler üyeleri, kenarlar sosyal ilişkileri temsil ediyor. Burada renkler gerçek bölünme sonucunu gösteriyor. Görsel, liderler çevresindeki merkez-çevre yapısını ve taraflar arasında hâlâ köprü bağları bulunduğunu ilk bakışta gösteriyor.</a:t>
            </a:r>
          </a:p>
          <a:p xmlns:a="http://schemas.openxmlformats.org/drawingml/2006/main">
            <a:r>
              <a:t/>
            </a:r>
          </a:p>
          <a:p xmlns:a="http://schemas.openxmlformats.org/drawingml/2006/main">
            <a:r>
              <a:t>[Sources]</a:t>
            </a:r>
          </a:p>
          <a:p xmlns:a="http://schemas.openxmlformats.org/drawingml/2006/main">
            <a:r>
              <a:t>- Zachary (1977), https://doi.org/10.1086/jar.33.4.3629752</a:t>
            </a:r>
          </a:p>
          <a:p xmlns:a="http://schemas.openxmlformats.org/drawingml/2006/main">
            <a:r>
              <a:t>- Executed project notebook; Graphviz rendering of the same 34-node, 78-edge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olarak ağın temsil biçimini sabitledim. İkinci adımda ders kapsamında istenen bütün ölçümleri ve merkezilikleri hesapladım. Son adımda algoritmanın ürettiği iki topluluğu gerçek kulüp bölünmesiyle nicel olarak karşılaştırdım. Notebook aynı akışı baştan sona yeniden üretir.</a:t>
            </a:r>
          </a:p>
          <a:p xmlns:a="http://schemas.openxmlformats.org/drawingml/2006/main">
            <a:r>
              <a:t/>
            </a:r>
          </a:p>
          <a:p xmlns:a="http://schemas.openxmlformats.org/drawingml/2006/main">
            <a:r>
              <a:t>[Sources]</a:t>
            </a:r>
          </a:p>
          <a:p xmlns:a="http://schemas.openxmlformats.org/drawingml/2006/main">
            <a:r>
              <a:t>- Freeman (1978), https://doi.org/10.1016/0378-8733(78)90021-7</a:t>
            </a:r>
          </a:p>
          <a:p xmlns:a="http://schemas.openxmlformats.org/drawingml/2006/main">
            <a:r>
              <a:t>- Girvan &amp; Newman (2002), https://doi.org/10.1073/pnas.122653799</a:t>
            </a:r>
          </a:p>
          <a:p xmlns:a="http://schemas.openxmlformats.org/drawingml/2006/main">
            <a:r>
              <a:t>- Executed project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Zorunlu temel ölçümlerde ağın yoğunluğu 0,139. Buna karşılık ortalama kümelenme 0,571; yani ağın bütünü seyrek olsa da yerel çevreler sıkı. Bütün 34 üyenin tek bileşende bulunması, iki taraf arasında çatışma öncesinde yolların sürdüğünü gösteriyor. Ortalama iki üye birbirine 2,41 adım uzakta.</a:t>
            </a:r>
          </a:p>
          <a:p xmlns:a="http://schemas.openxmlformats.org/drawingml/2006/main">
            <a:r>
              <a:t/>
            </a:r>
          </a:p>
          <a:p xmlns:a="http://schemas.openxmlformats.org/drawingml/2006/main">
            <a:r>
              <a:t>[Sources]</a:t>
            </a:r>
          </a:p>
          <a:p xmlns:a="http://schemas.openxmlformats.org/drawingml/2006/main">
            <a:r>
              <a:t>- Executed project notebook and results.json.</a:t>
            </a:r>
          </a:p>
          <a:p xmlns:a="http://schemas.openxmlformats.org/drawingml/2006/main">
            <a:r>
              <a:t>- Watts &amp; Strogatz (1998), https://doi.org/10.1038/30918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Derece dağılımı uzun sağ kuyruklu. Üyelerin çoğu iki, üç veya dört bağa sahipken yalnız birkaç düğüm ondan fazla bağ taşıyor. Bu durum iki lider çevresindeki merkez-çevre yapısını nicel olarak destekliyor. Negatif derece uyumluluğu da merkezlerin daha az bağlantılı çevre üyeleriyle bağ kurduğunu gösteriyor.</a:t>
            </a:r>
          </a:p>
          <a:p xmlns:a="http://schemas.openxmlformats.org/drawingml/2006/main">
            <a:r>
              <a:t/>
            </a:r>
          </a:p>
          <a:p xmlns:a="http://schemas.openxmlformats.org/drawingml/2006/main">
            <a:r>
              <a:t>[Sources]</a:t>
            </a:r>
          </a:p>
          <a:p xmlns:a="http://schemas.openxmlformats.org/drawingml/2006/main">
            <a:r>
              <a:t>- Executed project notebook and node_metrics.csv.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Aradalık merkeziliği, köprü olma rolünü ölçüyor. Düğüm 1 açık ara ilk, düğüm 34 ikinci. Derece ile aradalık arasındaki Spearman ilişkisi 0,905 ve p değeri 0,001'den küçük. Yine de bu iki ölçü aynı değil: bağlantıların hangi gruplar arasında olduğu köprü rolünü değiştiriyor.</a:t>
            </a:r>
          </a:p>
          <a:p xmlns:a="http://schemas.openxmlformats.org/drawingml/2006/main">
            <a:r>
              <a:t/>
            </a:r>
          </a:p>
          <a:p xmlns:a="http://schemas.openxmlformats.org/drawingml/2006/main">
            <a:r>
              <a:t>[Sources]</a:t>
            </a:r>
          </a:p>
          <a:p xmlns:a="http://schemas.openxmlformats.org/drawingml/2006/main">
            <a:r>
              <a:t>- Freeman (1978), https://doi.org/10.1016/0378-8733(78)90021-7</a:t>
            </a:r>
          </a:p>
          <a:p xmlns:a="http://schemas.openxmlformats.org/drawingml/2006/main">
            <a:r>
              <a:t>- Executed project notebook and top_nodes.csv.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Girvan-Newman'ın ilk iki topluluklu çözümü 15 ve 19 kişilik gruplar üretti. Etiketleri gerçek taraflarla en iyi şekilde eşlediğimde doğruluk yüzde 94,1 oldu; yalnız iki üye farklı tarafta kaldı. ARI 0,772 ve modülerlik 0,348. Önemli olan, iki grubun derece dağılımları farklı değilken bağlantı örüntüsünün ayrışmayı taşıması.</a:t>
            </a:r>
          </a:p>
          <a:p xmlns:a="http://schemas.openxmlformats.org/drawingml/2006/main">
            <a:r>
              <a:t/>
            </a:r>
          </a:p>
          <a:p xmlns:a="http://schemas.openxmlformats.org/drawingml/2006/main">
            <a:r>
              <a:t>[Sources]</a:t>
            </a:r>
          </a:p>
          <a:p xmlns:a="http://schemas.openxmlformats.org/drawingml/2006/main">
            <a:r>
              <a:t>- Girvan &amp; Newman (2002), https://doi.org/10.1073/pnas.122653799</a:t>
            </a:r>
          </a:p>
          <a:p xmlns:a="http://schemas.openxmlformats.org/drawingml/2006/main">
            <a:r>
              <a:t>- Executed project notebook and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Sonuçlar özgün çalışma ve topluluk literatürüyle uyumlu. Ancak örneklem küçük, ilişkiler ağırlıksız ve ağ statik. Bu nedenle p değerlerini geniş topluluklara genellemiyorum. Gelecekte ağırlıklı ve zamansal veriyle, farklı topluluk algoritmaları ve derece-koruyan rastgele ağlarla sonuçlar sınanabilir.</a:t>
            </a:r>
          </a:p>
          <a:p xmlns:a="http://schemas.openxmlformats.org/drawingml/2006/main">
            <a:r>
              <a:t/>
            </a:r>
          </a:p>
          <a:p xmlns:a="http://schemas.openxmlformats.org/drawingml/2006/main">
            <a:r>
              <a:t>[Sources]</a:t>
            </a:r>
          </a:p>
          <a:p xmlns:a="http://schemas.openxmlformats.org/drawingml/2006/main">
            <a:r>
              <a:t>- Zachary (1977), https://doi.org/10.1086/jar.33.4.3629752</a:t>
            </a:r>
          </a:p>
          <a:p xmlns:a="http://schemas.openxmlformats.org/drawingml/2006/main">
            <a:r>
              <a:t>- Fortunato (2010), https://doi.org/10.1016/j.physrep.2009.11.002</a:t>
            </a:r>
          </a:p>
          <a:p xmlns:a="http://schemas.openxmlformats.org/drawingml/2006/main">
            <a:r>
              <a:t>- Executed project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sırasında önce veri hücresini çalıştırıp ağın tipini ve boyutunu göstereceğim. Ardından özet ölçümler ve merkezilik tablosunu üreteceğim. Son olarak Girvan-Newman hücresini çalıştırıp iki yanlış sınıflanan üyeyi göstereceğim. Notebook tüm çıktıları CSV ve GraphML olarak da dışa aktarıyor.</a:t>
            </a:r>
          </a:p>
          <a:p xmlns:a="http://schemas.openxmlformats.org/drawingml/2006/main">
            <a:r>
              <a:t/>
            </a:r>
          </a:p>
          <a:p xmlns:a="http://schemas.openxmlformats.org/drawingml/2006/main">
            <a:r>
              <a:t>[Sources]</a:t>
            </a:r>
          </a:p>
          <a:p xmlns:a="http://schemas.openxmlformats.org/drawingml/2006/main">
            <a:r>
              <a:t>- Executed project notebook projekod_221101045_baris_emre_ahi.ipynb.</a:t>
            </a:r>
          </a:p>
          <a:p xmlns:a="http://schemas.openxmlformats.org/drawingml/2006/main">
            <a:r>
              <a:t>- Hagberg, Schult &amp; Swart (2008), NetworkX.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 cümlelik sonuç şu: Kulübün daha sonra yaşayacağı bölünme, çatışma öncesi sosyal bağların yapısında büyük ölçüde görünüyordu. Temel ölçümler, merkezilikler ve topluluk doğrulaması aynı sonuca ulaşıyor.</a:t>
            </a:r>
          </a:p>
          <a:p xmlns:a="http://schemas.openxmlformats.org/drawingml/2006/main">
            <a:r>
              <a:t/>
            </a:r>
          </a:p>
          <a:p xmlns:a="http://schemas.openxmlformats.org/drawingml/2006/main">
            <a:r>
              <a:t>[Sources]</a:t>
            </a:r>
          </a:p>
          <a:p xmlns:a="http://schemas.openxmlformats.org/drawingml/2006/main">
            <a:r>
              <a:t>- Zachary (1977), https://doi.org/10.1086/jar.33.4.3629752</a:t>
            </a:r>
          </a:p>
          <a:p xmlns:a="http://schemas.openxmlformats.org/drawingml/2006/main">
            <a:r>
              <a:t>- Executed project notebook and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4770641d3d47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cc0534fb5846d2" /><Relationship Type="http://schemas.openxmlformats.org/officeDocument/2006/relationships/slideLayout" Target="/ppt/slideLayouts/slideLayout1.xml" Id="R4dff0578366b45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ff0578366b45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Karate Project">
  <a:themeElements>
    <a:clrScheme name="Karate 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Karate Projec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5e717136604ba7" /><Relationship Type="http://schemas.openxmlformats.org/officeDocument/2006/relationships/notesSlide" Target="/ppt/notesSlides/notesSlide1.xml" Id="Red8637443beb4d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bde74ed9064370" /><Relationship Type="http://schemas.openxmlformats.org/officeDocument/2006/relationships/image" Target="/ppt/media/image.png" Id="R7462cdb2e64d49ae" /><Relationship Type="http://schemas.openxmlformats.org/officeDocument/2006/relationships/notesSlide" Target="/ppt/notesSlides/notesSlide2.xml" Id="R08b39c7ea3434b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d9dab239dd4914" /><Relationship Type="http://schemas.openxmlformats.org/officeDocument/2006/relationships/notesSlide" Target="/ppt/notesSlides/notesSlide3.xml" Id="R7c5bcd6c847d42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f8aae7be404e31" /><Relationship Type="http://schemas.openxmlformats.org/officeDocument/2006/relationships/notesSlide" Target="/ppt/notesSlides/notesSlide4.xml" Id="R6535c2b6c7384f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7404b465eb41a1" /><Relationship Type="http://schemas.openxmlformats.org/officeDocument/2006/relationships/chart" Target="/ppt/slides/charts/chart1.xml" Id="Rb1197234c0d94e49" /><Relationship Type="http://schemas.openxmlformats.org/officeDocument/2006/relationships/notesSlide" Target="/ppt/notesSlides/notesSlide5.xml" Id="R065b867de2794f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d03a48c7a64013" /><Relationship Type="http://schemas.openxmlformats.org/officeDocument/2006/relationships/chart" Target="/ppt/slides/charts/chart2.xml" Id="Rcccf767d669a4b73" /><Relationship Type="http://schemas.openxmlformats.org/officeDocument/2006/relationships/notesSlide" Target="/ppt/notesSlides/notesSlide6.xml" Id="R9745fe68d3154c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0ad0196c2549ed" /><Relationship Type="http://schemas.openxmlformats.org/officeDocument/2006/relationships/notesSlide" Target="/ppt/notesSlides/notesSlide7.xml" Id="R3111d3298c1849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d4ae6732654dea" /><Relationship Type="http://schemas.openxmlformats.org/officeDocument/2006/relationships/notesSlide" Target="/ppt/notesSlides/notesSlide8.xml" Id="Rfb0803aa47c64e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c5ca70aadf4ef4" /><Relationship Type="http://schemas.openxmlformats.org/officeDocument/2006/relationships/notesSlide" Target="/ppt/notesSlides/notesSlide9.xml" Id="Rd7576a5036274c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e9a94275724819" /><Relationship Type="http://schemas.openxmlformats.org/officeDocument/2006/relationships/notesSlide" Target="/ppt/notesSlides/notesSlide10.xml" Id="R6472f11e6eaf417c" /></Relationships>
</file>

<file path=ppt/slides/charts/chart1.xml><?xml version="1.0" encoding="utf-8"?>
<c:chartSpace xmlns:c="http://schemas.openxmlformats.org/drawingml/2006/chart">
  <c:lang val="en-US"/>
  <c:chart>
    <c:plotArea>
      <c:barChart>
        <c:barDir val="col"/>
        <c:grouping val="clustered"/>
        <c:varyColors val="0"/>
        <c:ser>
          <c:idx val="0"/>
          <c:order val="0"/>
          <c:tx>
            <c:v>Düğüm sayısı</c:v>
          </c:tx>
          <c:spPr>
            <a:solidFill xmlns:a="http://schemas.openxmlformats.org/drawingml/2006/main">
              <a:srgbClr val="3D8DFF"/>
            </a:solidFill>
          </c:spPr>
          <c:cat>
            <c:numLit>
              <c:formatCode>General</c:formatCode>
              <c:ptCount val="11"/>
              <c:pt idx="0">
                <c:v>1</c:v>
              </c:pt>
              <c:pt idx="1">
                <c:v>2</c:v>
              </c:pt>
              <c:pt idx="2">
                <c:v>3</c:v>
              </c:pt>
              <c:pt idx="3">
                <c:v>4</c:v>
              </c:pt>
              <c:pt idx="4">
                <c:v>5</c:v>
              </c:pt>
              <c:pt idx="5">
                <c:v>6</c:v>
              </c:pt>
              <c:pt idx="6">
                <c:v>9</c:v>
              </c:pt>
              <c:pt idx="7">
                <c:v>10</c:v>
              </c:pt>
              <c:pt idx="8">
                <c:v>12</c:v>
              </c:pt>
              <c:pt idx="9">
                <c:v>16</c:v>
              </c:pt>
              <c:pt idx="10">
                <c:v>17</c:v>
              </c:pt>
            </c:numLit>
          </c:cat>
          <c:val>
            <c:numLit>
              <c:formatCode>General</c:formatCode>
              <c:ptCount val="11"/>
              <c:pt idx="0">
                <c:v>1</c:v>
              </c:pt>
              <c:pt idx="1">
                <c:v>11</c:v>
              </c:pt>
              <c:pt idx="2">
                <c:v>6</c:v>
              </c:pt>
              <c:pt idx="3">
                <c:v>6</c:v>
              </c:pt>
              <c:pt idx="4">
                <c:v>3</c:v>
              </c:pt>
              <c:pt idx="5">
                <c:v>2</c:v>
              </c:pt>
              <c:pt idx="6">
                <c:v>1</c:v>
              </c:pt>
              <c:pt idx="7">
                <c:v>1</c:v>
              </c:pt>
              <c:pt idx="8">
                <c:v>1</c:v>
              </c:pt>
              <c:pt idx="9">
                <c:v>1</c:v>
              </c:pt>
              <c:pt idx="10">
                <c:v>1</c:v>
              </c:pt>
            </c:numLit>
          </c:val>
        </c:ser>
        <c:dLbls>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000000"/>
                </a:solidFill>
                <a:latin typeface="Arial"/>
                <a:ea typeface="Arial"/>
                <a:cs typeface="Arial"/>
              </a:defRPr>
            </a:pPr>
          </a:p>
        </c:txPr>
        <c:crossAx val="48672768"/>
      </c:catAx>
      <c:valAx>
        <c:axId val="48672768"/>
        <c:scaling>
          <c:orientation val="minMax"/>
          <c:max val="12"/>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000000"/>
                </a:solidFill>
                <a:latin typeface="Arial"/>
                <a:ea typeface="Arial"/>
                <a:cs typeface="Arial"/>
              </a:defRPr>
            </a:pPr>
          </a:p>
        </c:txPr>
        <c:crossAx val="48650112"/>
        <c:crossBetween val="between"/>
        <c:majorUnit val="2"/>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Normalize aradalık (%)</c:v>
          </c:tx>
          <c:spPr>
            <a:solidFill xmlns:a="http://schemas.openxmlformats.org/drawingml/2006/main">
              <a:srgbClr val="0F766E"/>
            </a:solidFill>
          </c:spPr>
          <c:cat>
            <c:numLit>
              <c:formatCode>General</c:formatCode>
              <c:ptCount val="5"/>
              <c:pt idx="0">
                <c:v>1</c:v>
              </c:pt>
              <c:pt idx="1">
                <c:v>34</c:v>
              </c:pt>
              <c:pt idx="2">
                <c:v>33</c:v>
              </c:pt>
              <c:pt idx="3">
                <c:v>3</c:v>
              </c:pt>
              <c:pt idx="4">
                <c:v>32</c:v>
              </c:pt>
            </c:numLit>
          </c:cat>
          <c:val>
            <c:numLit>
              <c:formatCode>General</c:formatCode>
              <c:ptCount val="5"/>
              <c:pt idx="0">
                <c:v>43.8</c:v>
              </c:pt>
              <c:pt idx="1">
                <c:v>30.4</c:v>
              </c:pt>
              <c:pt idx="2">
                <c:v>14.5</c:v>
              </c:pt>
              <c:pt idx="3">
                <c:v>14.4</c:v>
              </c:pt>
              <c:pt idx="4">
                <c:v>13.8</c:v>
              </c:pt>
            </c:numLit>
          </c:val>
        </c:ser>
        <c:dLbls>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000000"/>
                </a:solidFill>
                <a:latin typeface="Arial"/>
                <a:ea typeface="Arial"/>
                <a:cs typeface="Arial"/>
              </a:defRPr>
            </a:pPr>
          </a:p>
        </c:txPr>
        <c:crossAx val="48672768"/>
      </c:catAx>
      <c:valAx>
        <c:axId val="48672768"/>
        <c:scaling>
          <c:orientation val="minMax"/>
          <c:max val="5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000000"/>
                </a:solidFill>
                <a:latin typeface="Arial"/>
                <a:ea typeface="Arial"/>
                <a:cs typeface="Aria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ver-eyebrow">
            <a:extLst xmlns:a="http://schemas.openxmlformats.org/drawingml/2006/main">
              <a:ext uri="{FF2B5EF4-FFF2-40B4-BE49-F238E27FC236}">
                <a16:creationId xmlns:a16="http://schemas.microsoft.com/office/drawing/2014/main" id="{33CE0265-3847-4EF4-A910-34F8CFB9E875}"/>
              </a:ext>
            </a:extLst>
          </p:cNvPr>
          <p:cNvSpPr>
            <a:spLocks xmlns:a="http://schemas.openxmlformats.org/drawingml/2006/main" noGrp="1"/>
          </p:cNvSpPr>
          <p:nvPr/>
        </p:nvSpPr>
        <p:spPr>
          <a:xfrm xmlns:a="http://schemas.openxmlformats.org/drawingml/2006/main">
            <a:off x="390525" y="390525"/>
            <a:ext cx="571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4B5563"/>
                </a:solidFill>
                <a:latin typeface="Arial"/>
                <a:ea typeface="Arial"/>
                <a:cs typeface="Arial"/>
              </a:defRPr>
            </a:pPr>
            <a:r>
              <a:rPr sz="1800" b="1">
                <a:solidFill>
                  <a:srgbClr val="4B5563"/>
                </a:solidFill>
                <a:latin typeface="Arial"/>
                <a:ea typeface="Arial"/>
                <a:cs typeface="Arial"/>
              </a:rPr>
              <a:t>BİL403-503 • SOSYAL AĞLAR</a:t>
            </a:r>
          </a:p>
        </p:txBody>
      </p:sp>
      <p:sp>
        <p:nvSpPr>
          <p:cNvPr id="2" name="cover-title">
            <a:extLst xmlns:a="http://schemas.openxmlformats.org/drawingml/2006/main">
              <a:ext uri="{FF2B5EF4-FFF2-40B4-BE49-F238E27FC236}">
                <a16:creationId xmlns:a16="http://schemas.microsoft.com/office/drawing/2014/main" id="{9AD9C46A-CFDA-4CEF-9117-20DCAD3526E7}"/>
              </a:ext>
            </a:extLst>
          </p:cNvPr>
          <p:cNvSpPr>
            <a:spLocks xmlns:a="http://schemas.openxmlformats.org/drawingml/2006/main" noGrp="1"/>
          </p:cNvSpPr>
          <p:nvPr/>
        </p:nvSpPr>
        <p:spPr>
          <a:xfrm xmlns:a="http://schemas.openxmlformats.org/drawingml/2006/main">
            <a:off x="390525" y="1666875"/>
            <a:ext cx="10287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950" b="1">
                <a:solidFill>
                  <a:srgbClr val="000000"/>
                </a:solidFill>
                <a:latin typeface="Arial"/>
                <a:ea typeface="Arial"/>
                <a:cs typeface="Arial"/>
              </a:defRPr>
            </a:pPr>
            <a:r>
              <a:rPr sz="4950" b="1">
                <a:solidFill>
                  <a:srgbClr val="000000"/>
                </a:solidFill>
                <a:latin typeface="Arial"/>
                <a:ea typeface="Arial"/>
                <a:cs typeface="Arial"/>
              </a:rPr>
              <a:t>Zachary Karate Kulübü Ağının</a:t>
            </a:r>
          </a:p>
          <a:p xmlns:a="http://schemas.openxmlformats.org/drawingml/2006/main">
            <a:pPr algn="l">
              <a:defRPr sz="4950" b="1">
                <a:solidFill>
                  <a:srgbClr val="000000"/>
                </a:solidFill>
                <a:latin typeface="Arial"/>
                <a:ea typeface="Arial"/>
                <a:cs typeface="Arial"/>
              </a:defRPr>
            </a:pPr>
            <a:r>
              <a:rPr sz="4950" b="1">
                <a:solidFill>
                  <a:srgbClr val="000000"/>
                </a:solidFill>
                <a:latin typeface="Arial"/>
                <a:ea typeface="Arial"/>
                <a:cs typeface="Arial"/>
              </a:rPr>
              <a:t>Yapısal ve Topluluk Analizi</a:t>
            </a:r>
          </a:p>
        </p:txBody>
      </p:sp>
      <p:sp>
        <p:nvSpPr>
          <p:cNvPr id="3" name="cover-identity">
            <a:extLst xmlns:a="http://schemas.openxmlformats.org/drawingml/2006/main">
              <a:ext uri="{FF2B5EF4-FFF2-40B4-BE49-F238E27FC236}">
                <a16:creationId xmlns:a16="http://schemas.microsoft.com/office/drawing/2014/main" id="{3CE9F51A-DDCB-4613-B404-1176F1E48A55}"/>
              </a:ext>
            </a:extLst>
          </p:cNvPr>
          <p:cNvSpPr>
            <a:spLocks xmlns:a="http://schemas.openxmlformats.org/drawingml/2006/main" noGrp="1"/>
          </p:cNvSpPr>
          <p:nvPr/>
        </p:nvSpPr>
        <p:spPr>
          <a:xfrm xmlns:a="http://schemas.openxmlformats.org/drawingml/2006/main">
            <a:off x="390525" y="4810125"/>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4B5563"/>
                </a:solidFill>
                <a:latin typeface="Arial"/>
                <a:ea typeface="Arial"/>
                <a:cs typeface="Arial"/>
              </a:defRPr>
            </a:pPr>
            <a:r>
              <a:rPr sz="1800" b="0">
                <a:solidFill>
                  <a:srgbClr val="4B5563"/>
                </a:solidFill>
                <a:latin typeface="Arial"/>
                <a:ea typeface="Arial"/>
                <a:cs typeface="Arial"/>
              </a:rPr>
              <a:t>Barış Emre Ahi  •  221101045  •  31.07.2026</a:t>
            </a:r>
          </a:p>
        </p:txBody>
      </p:sp>
    </p:spTree>
    <p:extLst>
      <p:ext uri="{BB962C8B-B14F-4D97-AF65-F5344CB8AC3E}">
        <p14:creationId xmlns:p14="http://schemas.microsoft.com/office/powerpoint/2010/main" val="2281471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2">
            <a:extLst xmlns:a="http://schemas.openxmlformats.org/drawingml/2006/main">
              <a:ext uri="{FF2B5EF4-FFF2-40B4-BE49-F238E27FC236}">
                <a16:creationId xmlns:a16="http://schemas.microsoft.com/office/drawing/2014/main" id="{0934220C-327F-4E82-B6CA-1BB11FA68F3A}"/>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Çatışmadan önce ağ iki odağın çevresinde biçimlenmişti</a:t>
            </a:r>
          </a:p>
        </p:txBody>
      </p:sp>
      <p:sp>
        <p:nvSpPr>
          <p:cNvPr id="2" name="footer-2">
            <a:extLst xmlns:a="http://schemas.openxmlformats.org/drawingml/2006/main">
              <a:ext uri="{FF2B5EF4-FFF2-40B4-BE49-F238E27FC236}">
                <a16:creationId xmlns:a16="http://schemas.microsoft.com/office/drawing/2014/main" id="{DCAF7479-CC8F-4B4C-9C3E-A2939A9D0A79}"/>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2</a:t>
            </a:r>
          </a:p>
        </p:txBody>
      </p:sp>
      <p:sp>
        <p:nvSpPr>
          <p:cNvPr id="3" name="network-interpretation">
            <a:extLst xmlns:a="http://schemas.openxmlformats.org/drawingml/2006/main">
              <a:ext uri="{FF2B5EF4-FFF2-40B4-BE49-F238E27FC236}">
                <a16:creationId xmlns:a16="http://schemas.microsoft.com/office/drawing/2014/main" id="{C6095BAA-637D-46EC-93FE-75D1C1E64700}"/>
              </a:ext>
            </a:extLst>
          </p:cNvPr>
          <p:cNvSpPr>
            <a:spLocks xmlns:a="http://schemas.openxmlformats.org/drawingml/2006/main" noGrp="1"/>
          </p:cNvSpPr>
          <p:nvPr/>
        </p:nvSpPr>
        <p:spPr>
          <a:xfrm xmlns:a="http://schemas.openxmlformats.org/drawingml/2006/main">
            <a:off x="390525" y="1809750"/>
            <a:ext cx="5191125"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34 üye ve 78 sosyal ilişki</a:t>
            </a:r>
          </a:p>
          <a:p xmlns:a="http://schemas.openxmlformats.org/drawingml/2006/main">
            <a:r>
              <a:t/>
            </a:r>
          </a:p>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Mavi: eğitmen tarafı</a:t>
            </a:r>
          </a:p>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Turuncu: yönetici tarafı</a:t>
            </a:r>
          </a:p>
          <a:p xmlns:a="http://schemas.openxmlformats.org/drawingml/2006/main">
            <a:r>
              <a:t/>
            </a:r>
          </a:p>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Düğüm büyüklüğü bağlantı sayısını gösteriyor. En büyük iki odak, daha sonra ayrışan tarafların liderleri.</a:t>
            </a:r>
          </a:p>
        </p:txBody>
      </p:sp>
      <p:sp>
        <p:nvSpPr>
          <p:cNvPr id="4" name="network-frame">
            <a:extLst xmlns:a="http://schemas.openxmlformats.org/drawingml/2006/main">
              <a:ext uri="{FF2B5EF4-FFF2-40B4-BE49-F238E27FC236}">
                <a16:creationId xmlns:a16="http://schemas.microsoft.com/office/drawing/2014/main" id="{9BF0FEA7-8064-4839-B0F8-AE3A28984ECA}"/>
              </a:ext>
            </a:extLst>
          </p:cNvPr>
          <p:cNvSpPr>
            <a:spLocks xmlns:a="http://schemas.openxmlformats.org/drawingml/2006/main" noGrp="1"/>
          </p:cNvSpPr>
          <p:nvPr/>
        </p:nvSpPr>
        <p:spPr>
          <a:xfrm xmlns:a="http://schemas.openxmlformats.org/drawingml/2006/main">
            <a:off x="6267450" y="1352550"/>
            <a:ext cx="5543550" cy="4648200"/>
          </a:xfrm>
          <a:prstGeom xmlns:a="http://schemas.openxmlformats.org/drawingml/2006/main" prst="roundRect">
            <a:avLst>
              <a:gd name="adj" fmla="val 1639"/>
            </a:avLst>
          </a:prstGeom>
          <a:solidFill xmlns:a="http://schemas.openxmlformats.org/drawingml/2006/main">
            <a:srgbClr val="EAF5FB"/>
          </a:solidFill>
          <a:ln xmlns:a="http://schemas.openxmlformats.org/drawingml/2006/main" w="9525">
            <a:solidFill>
              <a:srgbClr val="B8BCC4"/>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462cdb2e64d49ae"/>
          <a:stretch xmlns:a="http://schemas.openxmlformats.org/drawingml/2006/main"/>
        </p:blipFill>
        <p:spPr>
          <a:xfrm xmlns:a="http://schemas.openxmlformats.org/drawingml/2006/main">
            <a:off x="6608445" y="1466850"/>
            <a:ext cx="4861560" cy="4419600"/>
          </a:xfrm>
          <a:prstGeom xmlns:a="http://schemas.openxmlformats.org/drawingml/2006/main" prst="rect">
            <a:avLst/>
          </a:prstGeom>
        </p:spPr>
      </p:pic>
    </p:spTree>
    <p:extLst>
      <p:ext uri="{BB962C8B-B14F-4D97-AF65-F5344CB8AC3E}">
        <p14:creationId xmlns:p14="http://schemas.microsoft.com/office/powerpoint/2010/main" val="14260750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3">
            <a:extLst xmlns:a="http://schemas.openxmlformats.org/drawingml/2006/main">
              <a:ext uri="{FF2B5EF4-FFF2-40B4-BE49-F238E27FC236}">
                <a16:creationId xmlns:a16="http://schemas.microsoft.com/office/drawing/2014/main" id="{4EDBA126-B6FD-4FDB-B540-DA665084B286}"/>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Analiz, ham ağdan doğrulanmış topluluk sonucuna üç adımda ilerledi</a:t>
            </a:r>
          </a:p>
        </p:txBody>
      </p:sp>
      <p:sp>
        <p:nvSpPr>
          <p:cNvPr id="2" name="footer-3">
            <a:extLst xmlns:a="http://schemas.openxmlformats.org/drawingml/2006/main">
              <a:ext uri="{FF2B5EF4-FFF2-40B4-BE49-F238E27FC236}">
                <a16:creationId xmlns:a16="http://schemas.microsoft.com/office/drawing/2014/main" id="{F146B088-D1D1-40A4-AE9C-F0173E4D65DB}"/>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3</a:t>
            </a:r>
          </a:p>
        </p:txBody>
      </p:sp>
      <p:sp>
        <p:nvSpPr>
          <p:cNvPr id="3" name="method-line">
            <a:extLst xmlns:a="http://schemas.openxmlformats.org/drawingml/2006/main">
              <a:ext uri="{FF2B5EF4-FFF2-40B4-BE49-F238E27FC236}">
                <a16:creationId xmlns:a16="http://schemas.microsoft.com/office/drawing/2014/main" id="{65D34426-2E3A-42C8-A200-096AD295B811}"/>
              </a:ext>
            </a:extLst>
          </p:cNvPr>
          <p:cNvSpPr>
            <a:spLocks xmlns:a="http://schemas.openxmlformats.org/drawingml/2006/main" noGrp="1"/>
          </p:cNvSpPr>
          <p:nvPr/>
        </p:nvSpPr>
        <p:spPr>
          <a:xfrm xmlns:a="http://schemas.openxmlformats.org/drawingml/2006/main">
            <a:off x="400050" y="3352800"/>
            <a:ext cx="113919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883742-8638-4F02-AC36-CBA2072D44CB}"/>
              </a:ext>
            </a:extLst>
          </p:cNvPr>
          <p:cNvSpPr>
            <a:spLocks xmlns:a="http://schemas.openxmlformats.org/drawingml/2006/main" noGrp="1"/>
          </p:cNvSpPr>
          <p:nvPr/>
        </p:nvSpPr>
        <p:spPr>
          <a:xfrm xmlns:a="http://schemas.openxmlformats.org/drawingml/2006/main">
            <a:off x="400050" y="28194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B5563"/>
                </a:solidFill>
                <a:latin typeface="Arial"/>
                <a:ea typeface="Arial"/>
                <a:cs typeface="Arial"/>
              </a:defRPr>
            </a:pPr>
            <a:r>
              <a:rPr sz="1350" b="1">
                <a:solidFill>
                  <a:srgbClr val="4B5563"/>
                </a:solidFill>
                <a:latin typeface="Arial"/>
                <a:ea typeface="Arial"/>
                <a:cs typeface="Arial"/>
              </a:rPr>
              <a:t>01 • MODEL</a:t>
            </a:r>
          </a:p>
        </p:txBody>
      </p:sp>
      <p:sp>
        <p:nvSpPr>
          <p:cNvPr id="5" name="method-node-0">
            <a:extLst xmlns:a="http://schemas.openxmlformats.org/drawingml/2006/main">
              <a:ext uri="{FF2B5EF4-FFF2-40B4-BE49-F238E27FC236}">
                <a16:creationId xmlns:a16="http://schemas.microsoft.com/office/drawing/2014/main" id="{C05C6BF3-9505-4810-97E7-9D96DE08C983}"/>
              </a:ext>
            </a:extLst>
          </p:cNvPr>
          <p:cNvSpPr>
            <a:spLocks xmlns:a="http://schemas.openxmlformats.org/drawingml/2006/main" noGrp="1"/>
          </p:cNvSpPr>
          <p:nvPr/>
        </p:nvSpPr>
        <p:spPr>
          <a:xfrm xmlns:a="http://schemas.openxmlformats.org/drawingml/2006/main">
            <a:off x="400050" y="327660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B53CC3E-3B5E-4A18-8891-A1BB5F3C031B}"/>
              </a:ext>
            </a:extLst>
          </p:cNvPr>
          <p:cNvSpPr>
            <a:spLocks xmlns:a="http://schemas.openxmlformats.org/drawingml/2006/main" noGrp="1"/>
          </p:cNvSpPr>
          <p:nvPr/>
        </p:nvSpPr>
        <p:spPr>
          <a:xfrm xmlns:a="http://schemas.openxmlformats.org/drawingml/2006/main">
            <a:off x="400050" y="3762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Yönsüz ve</a:t>
            </a:r>
          </a:p>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ağırlıksız ağ</a:t>
            </a:r>
          </a:p>
        </p:txBody>
      </p:sp>
      <p:sp>
        <p:nvSpPr>
          <p:cNvPr id="7" name="">
            <a:extLst xmlns:a="http://schemas.openxmlformats.org/drawingml/2006/main">
              <a:ext uri="{FF2B5EF4-FFF2-40B4-BE49-F238E27FC236}">
                <a16:creationId xmlns:a16="http://schemas.microsoft.com/office/drawing/2014/main" id="{7353D6C7-D074-4BE4-8B23-3EDEBB857EEB}"/>
              </a:ext>
            </a:extLst>
          </p:cNvPr>
          <p:cNvSpPr>
            <a:spLocks xmlns:a="http://schemas.openxmlformats.org/drawingml/2006/main" noGrp="1"/>
          </p:cNvSpPr>
          <p:nvPr/>
        </p:nvSpPr>
        <p:spPr>
          <a:xfrm xmlns:a="http://schemas.openxmlformats.org/drawingml/2006/main">
            <a:off x="400050" y="4762500"/>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Düğümler üyeler; kenarlar gözlenen sosyal ilişkiler.</a:t>
            </a:r>
          </a:p>
        </p:txBody>
      </p:sp>
      <p:sp>
        <p:nvSpPr>
          <p:cNvPr id="8" name="">
            <a:extLst xmlns:a="http://schemas.openxmlformats.org/drawingml/2006/main">
              <a:ext uri="{FF2B5EF4-FFF2-40B4-BE49-F238E27FC236}">
                <a16:creationId xmlns:a16="http://schemas.microsoft.com/office/drawing/2014/main" id="{9F587B20-E8DB-430E-B914-3A2979B4DE64}"/>
              </a:ext>
            </a:extLst>
          </p:cNvPr>
          <p:cNvSpPr>
            <a:spLocks xmlns:a="http://schemas.openxmlformats.org/drawingml/2006/main" noGrp="1"/>
          </p:cNvSpPr>
          <p:nvPr/>
        </p:nvSpPr>
        <p:spPr>
          <a:xfrm xmlns:a="http://schemas.openxmlformats.org/drawingml/2006/main">
            <a:off x="4305300" y="28194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B5563"/>
                </a:solidFill>
                <a:latin typeface="Arial"/>
                <a:ea typeface="Arial"/>
                <a:cs typeface="Arial"/>
              </a:defRPr>
            </a:pPr>
            <a:r>
              <a:rPr sz="1350" b="1">
                <a:solidFill>
                  <a:srgbClr val="4B5563"/>
                </a:solidFill>
                <a:latin typeface="Arial"/>
                <a:ea typeface="Arial"/>
                <a:cs typeface="Arial"/>
              </a:rPr>
              <a:t>02 • ÖLÇ</a:t>
            </a:r>
          </a:p>
        </p:txBody>
      </p:sp>
      <p:sp>
        <p:nvSpPr>
          <p:cNvPr id="9" name="method-node-1">
            <a:extLst xmlns:a="http://schemas.openxmlformats.org/drawingml/2006/main">
              <a:ext uri="{FF2B5EF4-FFF2-40B4-BE49-F238E27FC236}">
                <a16:creationId xmlns:a16="http://schemas.microsoft.com/office/drawing/2014/main" id="{5822329A-788B-4B2F-A619-F9A33BF55AAF}"/>
              </a:ext>
            </a:extLst>
          </p:cNvPr>
          <p:cNvSpPr>
            <a:spLocks xmlns:a="http://schemas.openxmlformats.org/drawingml/2006/main" noGrp="1"/>
          </p:cNvSpPr>
          <p:nvPr/>
        </p:nvSpPr>
        <p:spPr>
          <a:xfrm xmlns:a="http://schemas.openxmlformats.org/drawingml/2006/main">
            <a:off x="4305300" y="327660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6024B7-149A-4808-91B6-907A17534FBC}"/>
              </a:ext>
            </a:extLst>
          </p:cNvPr>
          <p:cNvSpPr>
            <a:spLocks xmlns:a="http://schemas.openxmlformats.org/drawingml/2006/main" noGrp="1"/>
          </p:cNvSpPr>
          <p:nvPr/>
        </p:nvSpPr>
        <p:spPr>
          <a:xfrm xmlns:a="http://schemas.openxmlformats.org/drawingml/2006/main">
            <a:off x="4305300" y="3762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Yapı + merkezilik</a:t>
            </a:r>
          </a:p>
        </p:txBody>
      </p:sp>
      <p:sp>
        <p:nvSpPr>
          <p:cNvPr id="11" name="">
            <a:extLst xmlns:a="http://schemas.openxmlformats.org/drawingml/2006/main">
              <a:ext uri="{FF2B5EF4-FFF2-40B4-BE49-F238E27FC236}">
                <a16:creationId xmlns:a16="http://schemas.microsoft.com/office/drawing/2014/main" id="{C5F5624D-DC6B-44A6-BC33-511D59DC90CC}"/>
              </a:ext>
            </a:extLst>
          </p:cNvPr>
          <p:cNvSpPr>
            <a:spLocks xmlns:a="http://schemas.openxmlformats.org/drawingml/2006/main" noGrp="1"/>
          </p:cNvSpPr>
          <p:nvPr/>
        </p:nvSpPr>
        <p:spPr>
          <a:xfrm xmlns:a="http://schemas.openxmlformats.org/drawingml/2006/main">
            <a:off x="4305300" y="4762500"/>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Yoğunluk, derece, kümelenme, yollar ve dört merkezilik.</a:t>
            </a:r>
          </a:p>
        </p:txBody>
      </p:sp>
      <p:sp>
        <p:nvSpPr>
          <p:cNvPr id="12" name="">
            <a:extLst xmlns:a="http://schemas.openxmlformats.org/drawingml/2006/main">
              <a:ext uri="{FF2B5EF4-FFF2-40B4-BE49-F238E27FC236}">
                <a16:creationId xmlns:a16="http://schemas.microsoft.com/office/drawing/2014/main" id="{CE1A2208-3A09-4304-AF1E-BFACFB7F3322}"/>
              </a:ext>
            </a:extLst>
          </p:cNvPr>
          <p:cNvSpPr>
            <a:spLocks xmlns:a="http://schemas.openxmlformats.org/drawingml/2006/main" noGrp="1"/>
          </p:cNvSpPr>
          <p:nvPr/>
        </p:nvSpPr>
        <p:spPr>
          <a:xfrm xmlns:a="http://schemas.openxmlformats.org/drawingml/2006/main">
            <a:off x="8229600" y="28194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B5563"/>
                </a:solidFill>
                <a:latin typeface="Arial"/>
                <a:ea typeface="Arial"/>
                <a:cs typeface="Arial"/>
              </a:defRPr>
            </a:pPr>
            <a:r>
              <a:rPr sz="1350" b="1">
                <a:solidFill>
                  <a:srgbClr val="4B5563"/>
                </a:solidFill>
                <a:latin typeface="Arial"/>
                <a:ea typeface="Arial"/>
                <a:cs typeface="Arial"/>
              </a:rPr>
              <a:t>03 • DOĞRULA</a:t>
            </a:r>
          </a:p>
        </p:txBody>
      </p:sp>
      <p:sp>
        <p:nvSpPr>
          <p:cNvPr id="13" name="method-node-2">
            <a:extLst xmlns:a="http://schemas.openxmlformats.org/drawingml/2006/main">
              <a:ext uri="{FF2B5EF4-FFF2-40B4-BE49-F238E27FC236}">
                <a16:creationId xmlns:a16="http://schemas.microsoft.com/office/drawing/2014/main" id="{7612D30C-86E6-4A38-ACA8-37227B66822F}"/>
              </a:ext>
            </a:extLst>
          </p:cNvPr>
          <p:cNvSpPr>
            <a:spLocks xmlns:a="http://schemas.openxmlformats.org/drawingml/2006/main" noGrp="1"/>
          </p:cNvSpPr>
          <p:nvPr/>
        </p:nvSpPr>
        <p:spPr>
          <a:xfrm xmlns:a="http://schemas.openxmlformats.org/drawingml/2006/main">
            <a:off x="8229600" y="327660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92C0135-3E1C-4A7F-AF20-E314D664B921}"/>
              </a:ext>
            </a:extLst>
          </p:cNvPr>
          <p:cNvSpPr>
            <a:spLocks xmlns:a="http://schemas.openxmlformats.org/drawingml/2006/main" noGrp="1"/>
          </p:cNvSpPr>
          <p:nvPr/>
        </p:nvSpPr>
        <p:spPr>
          <a:xfrm xmlns:a="http://schemas.openxmlformats.org/drawingml/2006/main">
            <a:off x="8229600" y="3762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Girvan-Newman</a:t>
            </a:r>
          </a:p>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karşılaştırması</a:t>
            </a:r>
          </a:p>
        </p:txBody>
      </p:sp>
      <p:sp>
        <p:nvSpPr>
          <p:cNvPr id="15" name="">
            <a:extLst xmlns:a="http://schemas.openxmlformats.org/drawingml/2006/main">
              <a:ext uri="{FF2B5EF4-FFF2-40B4-BE49-F238E27FC236}">
                <a16:creationId xmlns:a16="http://schemas.microsoft.com/office/drawing/2014/main" id="{EF1CFEA3-407A-4FD4-8D41-E96C222E5E2D}"/>
              </a:ext>
            </a:extLst>
          </p:cNvPr>
          <p:cNvSpPr>
            <a:spLocks xmlns:a="http://schemas.openxmlformats.org/drawingml/2006/main" noGrp="1"/>
          </p:cNvSpPr>
          <p:nvPr/>
        </p:nvSpPr>
        <p:spPr>
          <a:xfrm xmlns:a="http://schemas.openxmlformats.org/drawingml/2006/main">
            <a:off x="8229600" y="4762500"/>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İki topluluk gerçek ayrışmayla doğruluk, ARI ve NMI üzerinden eşleştirildi.</a:t>
            </a:r>
          </a:p>
        </p:txBody>
      </p:sp>
    </p:spTree>
    <p:extLst>
      <p:ext uri="{BB962C8B-B14F-4D97-AF65-F5344CB8AC3E}">
        <p14:creationId xmlns:p14="http://schemas.microsoft.com/office/powerpoint/2010/main" val="13046185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4">
            <a:extLst xmlns:a="http://schemas.openxmlformats.org/drawingml/2006/main">
              <a:ext uri="{FF2B5EF4-FFF2-40B4-BE49-F238E27FC236}">
                <a16:creationId xmlns:a16="http://schemas.microsoft.com/office/drawing/2014/main" id="{BCFB45E7-1320-47C9-ABA6-F73BE657AAB0}"/>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Ağ seyrek, tek parça ve yerel olarak güçlü biçimde kümelenmiş</a:t>
            </a:r>
          </a:p>
        </p:txBody>
      </p:sp>
      <p:sp>
        <p:nvSpPr>
          <p:cNvPr id="2" name="footer-4">
            <a:extLst xmlns:a="http://schemas.openxmlformats.org/drawingml/2006/main">
              <a:ext uri="{FF2B5EF4-FFF2-40B4-BE49-F238E27FC236}">
                <a16:creationId xmlns:a16="http://schemas.microsoft.com/office/drawing/2014/main" id="{CDF7D1A8-59EA-4F8A-981F-9D84C0319683}"/>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BD57BB9C-B637-4846-AC8F-5BC53B83D778}"/>
              </a:ext>
            </a:extLst>
          </p:cNvPr>
          <p:cNvSpPr>
            <a:spLocks xmlns:a="http://schemas.openxmlformats.org/drawingml/2006/main" noGrp="1"/>
          </p:cNvSpPr>
          <p:nvPr/>
        </p:nvSpPr>
        <p:spPr>
          <a:xfrm xmlns:a="http://schemas.openxmlformats.org/drawingml/2006/main">
            <a:off x="390525" y="1257300"/>
            <a:ext cx="1123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4B5563"/>
                </a:solidFill>
                <a:latin typeface="Arial"/>
                <a:ea typeface="Arial"/>
                <a:cs typeface="Arial"/>
              </a:defRPr>
            </a:pPr>
            <a:r>
              <a:rPr sz="1800" b="0">
                <a:solidFill>
                  <a:srgbClr val="4B5563"/>
                </a:solidFill>
                <a:latin typeface="Arial"/>
                <a:ea typeface="Arial"/>
                <a:cs typeface="Arial"/>
              </a:rPr>
              <a:t>Tek bileşen • Ortalama en kısa yol 2,41 • Çap 5 • Derece uyumluluğu -0,476</a:t>
            </a:r>
          </a:p>
        </p:txBody>
      </p:sp>
      <p:sp>
        <p:nvSpPr>
          <p:cNvPr id="4" name="metric-card-0">
            <a:extLst xmlns:a="http://schemas.openxmlformats.org/drawingml/2006/main">
              <a:ext uri="{FF2B5EF4-FFF2-40B4-BE49-F238E27FC236}">
                <a16:creationId xmlns:a16="http://schemas.microsoft.com/office/drawing/2014/main" id="{F5CB4571-B59B-4ECC-9410-70360967A529}"/>
              </a:ext>
            </a:extLst>
          </p:cNvPr>
          <p:cNvSpPr>
            <a:spLocks xmlns:a="http://schemas.openxmlformats.org/drawingml/2006/main" noGrp="1"/>
          </p:cNvSpPr>
          <p:nvPr/>
        </p:nvSpPr>
        <p:spPr>
          <a:xfrm xmlns:a="http://schemas.openxmlformats.org/drawingml/2006/main">
            <a:off x="390525" y="2857500"/>
            <a:ext cx="3571875" cy="3048000"/>
          </a:xfrm>
          <a:prstGeom xmlns:a="http://schemas.openxmlformats.org/drawingml/2006/main" prst="roundRect">
            <a:avLst>
              <a:gd name="adj" fmla="val 2500"/>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55DB09-5A90-4A01-8F56-76B622544AF8}"/>
              </a:ext>
            </a:extLst>
          </p:cNvPr>
          <p:cNvSpPr>
            <a:spLocks xmlns:a="http://schemas.openxmlformats.org/drawingml/2006/main" noGrp="1"/>
          </p:cNvSpPr>
          <p:nvPr/>
        </p:nvSpPr>
        <p:spPr>
          <a:xfrm xmlns:a="http://schemas.openxmlformats.org/drawingml/2006/main">
            <a:off x="695325" y="321945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050" b="1">
                <a:solidFill>
                  <a:srgbClr val="000000"/>
                </a:solidFill>
                <a:latin typeface="Arial"/>
                <a:ea typeface="Arial"/>
                <a:cs typeface="Arial"/>
              </a:defRPr>
            </a:pPr>
            <a:r>
              <a:rPr sz="4050" b="1">
                <a:solidFill>
                  <a:srgbClr val="000000"/>
                </a:solidFill>
                <a:latin typeface="Arial"/>
                <a:ea typeface="Arial"/>
                <a:cs typeface="Arial"/>
              </a:rPr>
              <a:t>34 / 78</a:t>
            </a:r>
          </a:p>
        </p:txBody>
      </p:sp>
      <p:sp>
        <p:nvSpPr>
          <p:cNvPr id="6" name="">
            <a:extLst xmlns:a="http://schemas.openxmlformats.org/drawingml/2006/main">
              <a:ext uri="{FF2B5EF4-FFF2-40B4-BE49-F238E27FC236}">
                <a16:creationId xmlns:a16="http://schemas.microsoft.com/office/drawing/2014/main" id="{B2B2006C-BF62-4E6E-AB80-275643474BE6}"/>
              </a:ext>
            </a:extLst>
          </p:cNvPr>
          <p:cNvSpPr>
            <a:spLocks xmlns:a="http://schemas.openxmlformats.org/drawingml/2006/main" noGrp="1"/>
          </p:cNvSpPr>
          <p:nvPr/>
        </p:nvSpPr>
        <p:spPr>
          <a:xfrm xmlns:a="http://schemas.openxmlformats.org/drawingml/2006/main">
            <a:off x="695325" y="44577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DÜĞÜM / KENAR</a:t>
            </a:r>
          </a:p>
        </p:txBody>
      </p:sp>
      <p:sp>
        <p:nvSpPr>
          <p:cNvPr id="7" name="">
            <a:extLst xmlns:a="http://schemas.openxmlformats.org/drawingml/2006/main">
              <a:ext uri="{FF2B5EF4-FFF2-40B4-BE49-F238E27FC236}">
                <a16:creationId xmlns:a16="http://schemas.microsoft.com/office/drawing/2014/main" id="{897FD042-18F3-479B-8784-6ED07CC55180}"/>
              </a:ext>
            </a:extLst>
          </p:cNvPr>
          <p:cNvSpPr>
            <a:spLocks xmlns:a="http://schemas.openxmlformats.org/drawingml/2006/main" noGrp="1"/>
          </p:cNvSpPr>
          <p:nvPr/>
        </p:nvSpPr>
        <p:spPr>
          <a:xfrm xmlns:a="http://schemas.openxmlformats.org/drawingml/2006/main">
            <a:off x="695325" y="49530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Küçük ama gerçek</a:t>
            </a:r>
          </a:p>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bir sosyal sistem</a:t>
            </a:r>
          </a:p>
        </p:txBody>
      </p:sp>
      <p:sp>
        <p:nvSpPr>
          <p:cNvPr id="8" name="metric-card-1">
            <a:extLst xmlns:a="http://schemas.openxmlformats.org/drawingml/2006/main">
              <a:ext uri="{FF2B5EF4-FFF2-40B4-BE49-F238E27FC236}">
                <a16:creationId xmlns:a16="http://schemas.microsoft.com/office/drawing/2014/main" id="{EFBC65BF-3A46-424A-A351-AFB688796C91}"/>
              </a:ext>
            </a:extLst>
          </p:cNvPr>
          <p:cNvSpPr>
            <a:spLocks xmlns:a="http://schemas.openxmlformats.org/drawingml/2006/main" noGrp="1"/>
          </p:cNvSpPr>
          <p:nvPr/>
        </p:nvSpPr>
        <p:spPr>
          <a:xfrm xmlns:a="http://schemas.openxmlformats.org/drawingml/2006/main">
            <a:off x="4314825" y="2857500"/>
            <a:ext cx="3571875" cy="3048000"/>
          </a:xfrm>
          <a:prstGeom xmlns:a="http://schemas.openxmlformats.org/drawingml/2006/main" prst="roundRect">
            <a:avLst>
              <a:gd name="adj" fmla="val 2500"/>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503A8EB-306B-4A1A-8F62-26C71D1C4103}"/>
              </a:ext>
            </a:extLst>
          </p:cNvPr>
          <p:cNvSpPr>
            <a:spLocks xmlns:a="http://schemas.openxmlformats.org/drawingml/2006/main" noGrp="1"/>
          </p:cNvSpPr>
          <p:nvPr/>
        </p:nvSpPr>
        <p:spPr>
          <a:xfrm xmlns:a="http://schemas.openxmlformats.org/drawingml/2006/main">
            <a:off x="4619625" y="321945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050" b="1">
                <a:solidFill>
                  <a:srgbClr val="000000"/>
                </a:solidFill>
                <a:latin typeface="Arial"/>
                <a:ea typeface="Arial"/>
                <a:cs typeface="Arial"/>
              </a:defRPr>
            </a:pPr>
            <a:r>
              <a:rPr sz="4050" b="1">
                <a:solidFill>
                  <a:srgbClr val="000000"/>
                </a:solidFill>
                <a:latin typeface="Arial"/>
                <a:ea typeface="Arial"/>
                <a:cs typeface="Arial"/>
              </a:rPr>
              <a:t>0,139</a:t>
            </a:r>
          </a:p>
        </p:txBody>
      </p:sp>
      <p:sp>
        <p:nvSpPr>
          <p:cNvPr id="10" name="">
            <a:extLst xmlns:a="http://schemas.openxmlformats.org/drawingml/2006/main">
              <a:ext uri="{FF2B5EF4-FFF2-40B4-BE49-F238E27FC236}">
                <a16:creationId xmlns:a16="http://schemas.microsoft.com/office/drawing/2014/main" id="{B55B1F01-8534-41F7-A7F8-220A74325FB2}"/>
              </a:ext>
            </a:extLst>
          </p:cNvPr>
          <p:cNvSpPr>
            <a:spLocks xmlns:a="http://schemas.openxmlformats.org/drawingml/2006/main" noGrp="1"/>
          </p:cNvSpPr>
          <p:nvPr/>
        </p:nvSpPr>
        <p:spPr>
          <a:xfrm xmlns:a="http://schemas.openxmlformats.org/drawingml/2006/main">
            <a:off x="4619625" y="44577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YOĞUNLUK</a:t>
            </a:r>
          </a:p>
        </p:txBody>
      </p:sp>
      <p:sp>
        <p:nvSpPr>
          <p:cNvPr id="11" name="">
            <a:extLst xmlns:a="http://schemas.openxmlformats.org/drawingml/2006/main">
              <a:ext uri="{FF2B5EF4-FFF2-40B4-BE49-F238E27FC236}">
                <a16:creationId xmlns:a16="http://schemas.microsoft.com/office/drawing/2014/main" id="{3699C6ED-EBC6-417D-A16B-65005C3F11BD}"/>
              </a:ext>
            </a:extLst>
          </p:cNvPr>
          <p:cNvSpPr>
            <a:spLocks xmlns:a="http://schemas.openxmlformats.org/drawingml/2006/main" noGrp="1"/>
          </p:cNvSpPr>
          <p:nvPr/>
        </p:nvSpPr>
        <p:spPr>
          <a:xfrm xmlns:a="http://schemas.openxmlformats.org/drawingml/2006/main">
            <a:off x="4619625" y="49530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Mümkün bağların</a:t>
            </a:r>
          </a:p>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%13,9'u gözlenmiş</a:t>
            </a:r>
          </a:p>
        </p:txBody>
      </p:sp>
      <p:sp>
        <p:nvSpPr>
          <p:cNvPr id="12" name="metric-card-2">
            <a:extLst xmlns:a="http://schemas.openxmlformats.org/drawingml/2006/main">
              <a:ext uri="{FF2B5EF4-FFF2-40B4-BE49-F238E27FC236}">
                <a16:creationId xmlns:a16="http://schemas.microsoft.com/office/drawing/2014/main" id="{7A973F77-4C0C-4276-929B-5F2A90144931}"/>
              </a:ext>
            </a:extLst>
          </p:cNvPr>
          <p:cNvSpPr>
            <a:spLocks xmlns:a="http://schemas.openxmlformats.org/drawingml/2006/main" noGrp="1"/>
          </p:cNvSpPr>
          <p:nvPr/>
        </p:nvSpPr>
        <p:spPr>
          <a:xfrm xmlns:a="http://schemas.openxmlformats.org/drawingml/2006/main">
            <a:off x="8229600" y="2857500"/>
            <a:ext cx="3571875" cy="3048000"/>
          </a:xfrm>
          <a:prstGeom xmlns:a="http://schemas.openxmlformats.org/drawingml/2006/main" prst="roundRect">
            <a:avLst>
              <a:gd name="adj" fmla="val 2500"/>
            </a:avLst>
          </a:prstGeom>
          <a:solidFill xmlns:a="http://schemas.openxmlformats.org/drawingml/2006/main">
            <a:srgbClr val="EDED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E29D54-D383-4392-9111-6168166EAFAA}"/>
              </a:ext>
            </a:extLst>
          </p:cNvPr>
          <p:cNvSpPr>
            <a:spLocks xmlns:a="http://schemas.openxmlformats.org/drawingml/2006/main" noGrp="1"/>
          </p:cNvSpPr>
          <p:nvPr/>
        </p:nvSpPr>
        <p:spPr>
          <a:xfrm xmlns:a="http://schemas.openxmlformats.org/drawingml/2006/main">
            <a:off x="8534400" y="321945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050" b="1">
                <a:solidFill>
                  <a:srgbClr val="000000"/>
                </a:solidFill>
                <a:latin typeface="Arial"/>
                <a:ea typeface="Arial"/>
                <a:cs typeface="Arial"/>
              </a:defRPr>
            </a:pPr>
            <a:r>
              <a:rPr sz="4050" b="1">
                <a:solidFill>
                  <a:srgbClr val="000000"/>
                </a:solidFill>
                <a:latin typeface="Arial"/>
                <a:ea typeface="Arial"/>
                <a:cs typeface="Arial"/>
              </a:rPr>
              <a:t>0,571</a:t>
            </a:r>
          </a:p>
        </p:txBody>
      </p:sp>
      <p:sp>
        <p:nvSpPr>
          <p:cNvPr id="14" name="">
            <a:extLst xmlns:a="http://schemas.openxmlformats.org/drawingml/2006/main">
              <a:ext uri="{FF2B5EF4-FFF2-40B4-BE49-F238E27FC236}">
                <a16:creationId xmlns:a16="http://schemas.microsoft.com/office/drawing/2014/main" id="{CD0BC74B-8B3B-4AFC-9970-0E541175B04E}"/>
              </a:ext>
            </a:extLst>
          </p:cNvPr>
          <p:cNvSpPr>
            <a:spLocks xmlns:a="http://schemas.openxmlformats.org/drawingml/2006/main" noGrp="1"/>
          </p:cNvSpPr>
          <p:nvPr/>
        </p:nvSpPr>
        <p:spPr>
          <a:xfrm xmlns:a="http://schemas.openxmlformats.org/drawingml/2006/main">
            <a:off x="8534400" y="44577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ORT. KÜMELENME</a:t>
            </a:r>
          </a:p>
        </p:txBody>
      </p:sp>
      <p:sp>
        <p:nvSpPr>
          <p:cNvPr id="15" name="">
            <a:extLst xmlns:a="http://schemas.openxmlformats.org/drawingml/2006/main">
              <a:ext uri="{FF2B5EF4-FFF2-40B4-BE49-F238E27FC236}">
                <a16:creationId xmlns:a16="http://schemas.microsoft.com/office/drawing/2014/main" id="{AE4B5F99-2193-403F-AF71-13AEB4473C8A}"/>
              </a:ext>
            </a:extLst>
          </p:cNvPr>
          <p:cNvSpPr>
            <a:spLocks xmlns:a="http://schemas.openxmlformats.org/drawingml/2006/main" noGrp="1"/>
          </p:cNvSpPr>
          <p:nvPr/>
        </p:nvSpPr>
        <p:spPr>
          <a:xfrm xmlns:a="http://schemas.openxmlformats.org/drawingml/2006/main">
            <a:off x="8534400" y="49530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Yerel arkadaş</a:t>
            </a:r>
          </a:p>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çevreleri sıkı</a:t>
            </a:r>
          </a:p>
        </p:txBody>
      </p:sp>
    </p:spTree>
    <p:extLst>
      <p:ext uri="{BB962C8B-B14F-4D97-AF65-F5344CB8AC3E}">
        <p14:creationId xmlns:p14="http://schemas.microsoft.com/office/powerpoint/2010/main" val="16430517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53ED9383-7B62-4475-B1D7-6EB6C9EB7A39}"/>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Az sayıda merkez, çok sayıda düşük dereceli üyeyi bağlıyor</a:t>
            </a:r>
          </a:p>
        </p:txBody>
      </p:sp>
      <p:sp>
        <p:nvSpPr>
          <p:cNvPr id="2" name="footer-5">
            <a:extLst xmlns:a="http://schemas.openxmlformats.org/drawingml/2006/main">
              <a:ext uri="{FF2B5EF4-FFF2-40B4-BE49-F238E27FC236}">
                <a16:creationId xmlns:a16="http://schemas.microsoft.com/office/drawing/2014/main" id="{5910D4B3-B774-458F-9ECE-E5C46F63D2EF}"/>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5</a:t>
            </a:r>
          </a:p>
        </p:txBody>
      </p:sp>
      <p:graphicFrame>
        <p:nvGraphicFramePr>
          <p:cNvPr id="15" name="Chart"/>
          <p:cNvGraphicFramePr/>
          <p:nvPr/>
        </p:nvGraphicFramePr>
        <p:xfrm>
          <a:off xmlns:a="http://schemas.openxmlformats.org/drawingml/2006/main" x="400050" y="1333500"/>
          <a:ext xmlns:a="http://schemas.openxmlformats.org/drawingml/2006/main" cx="5429250" cy="4762500"/>
        </p:xfrm>
        <a:graphic xmlns:a="http://schemas.openxmlformats.org/drawingml/2006/main">
          <a:graphicData uri="http://schemas.openxmlformats.org/drawingml/2006/chart">
            <c:chart xmlns:r="http://schemas.openxmlformats.org/officeDocument/2006/relationships" xmlns:c="http://schemas.openxmlformats.org/drawingml/2006/chart" r:id="Rb1197234c0d94e49"/>
          </a:graphicData>
        </a:graphic>
      </p:graphicFrame>
      <p:sp>
        <p:nvSpPr>
          <p:cNvPr id="4" name="">
            <a:extLst xmlns:a="http://schemas.openxmlformats.org/drawingml/2006/main">
              <a:ext uri="{FF2B5EF4-FFF2-40B4-BE49-F238E27FC236}">
                <a16:creationId xmlns:a16="http://schemas.microsoft.com/office/drawing/2014/main" id="{557DA054-C0A9-4D14-9679-E31BC6F2D184}"/>
              </a:ext>
            </a:extLst>
          </p:cNvPr>
          <p:cNvSpPr>
            <a:spLocks xmlns:a="http://schemas.openxmlformats.org/drawingml/2006/main" noGrp="1"/>
          </p:cNvSpPr>
          <p:nvPr/>
        </p:nvSpPr>
        <p:spPr>
          <a:xfrm xmlns:a="http://schemas.openxmlformats.org/drawingml/2006/main">
            <a:off x="6286500" y="1295400"/>
            <a:ext cx="5505450" cy="1352550"/>
          </a:xfrm>
          <a:prstGeom xmlns:a="http://schemas.openxmlformats.org/drawingml/2006/main" prst="roundRect">
            <a:avLst>
              <a:gd name="adj" fmla="val 5634"/>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895534-8571-485C-9351-0CA8975D317F}"/>
              </a:ext>
            </a:extLst>
          </p:cNvPr>
          <p:cNvSpPr>
            <a:spLocks xmlns:a="http://schemas.openxmlformats.org/drawingml/2006/main" noGrp="1"/>
          </p:cNvSpPr>
          <p:nvPr/>
        </p:nvSpPr>
        <p:spPr>
          <a:xfrm xmlns:a="http://schemas.openxmlformats.org/drawingml/2006/main">
            <a:off x="6610350" y="150495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11 düğüm</a:t>
            </a:r>
          </a:p>
        </p:txBody>
      </p:sp>
      <p:sp>
        <p:nvSpPr>
          <p:cNvPr id="6" name="">
            <a:extLst xmlns:a="http://schemas.openxmlformats.org/drawingml/2006/main">
              <a:ext uri="{FF2B5EF4-FFF2-40B4-BE49-F238E27FC236}">
                <a16:creationId xmlns:a16="http://schemas.microsoft.com/office/drawing/2014/main" id="{50C768EF-8E17-42B4-8DFD-C38BA25C923C}"/>
              </a:ext>
            </a:extLst>
          </p:cNvPr>
          <p:cNvSpPr>
            <a:spLocks xmlns:a="http://schemas.openxmlformats.org/drawingml/2006/main" noGrp="1"/>
          </p:cNvSpPr>
          <p:nvPr/>
        </p:nvSpPr>
        <p:spPr>
          <a:xfrm xmlns:a="http://schemas.openxmlformats.org/drawingml/2006/main">
            <a:off x="6610350" y="199072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Derecesi 2 olan üyeler çoğunlukta.</a:t>
            </a:r>
          </a:p>
        </p:txBody>
      </p:sp>
      <p:sp>
        <p:nvSpPr>
          <p:cNvPr id="7" name="">
            <a:extLst xmlns:a="http://schemas.openxmlformats.org/drawingml/2006/main">
              <a:ext uri="{FF2B5EF4-FFF2-40B4-BE49-F238E27FC236}">
                <a16:creationId xmlns:a16="http://schemas.microsoft.com/office/drawing/2014/main" id="{E4ECAED2-B67F-4178-9D5C-8AA61673F133}"/>
              </a:ext>
            </a:extLst>
          </p:cNvPr>
          <p:cNvSpPr>
            <a:spLocks xmlns:a="http://schemas.openxmlformats.org/drawingml/2006/main" noGrp="1"/>
          </p:cNvSpPr>
          <p:nvPr/>
        </p:nvSpPr>
        <p:spPr>
          <a:xfrm xmlns:a="http://schemas.openxmlformats.org/drawingml/2006/main">
            <a:off x="6286500" y="2895600"/>
            <a:ext cx="5505450" cy="1352550"/>
          </a:xfrm>
          <a:prstGeom xmlns:a="http://schemas.openxmlformats.org/drawingml/2006/main" prst="roundRect">
            <a:avLst>
              <a:gd name="adj" fmla="val 5634"/>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6F3074-B7D8-4B9D-A2F2-31D5E3B639AB}"/>
              </a:ext>
            </a:extLst>
          </p:cNvPr>
          <p:cNvSpPr>
            <a:spLocks xmlns:a="http://schemas.openxmlformats.org/drawingml/2006/main" noGrp="1"/>
          </p:cNvSpPr>
          <p:nvPr/>
        </p:nvSpPr>
        <p:spPr>
          <a:xfrm xmlns:a="http://schemas.openxmlformats.org/drawingml/2006/main">
            <a:off x="6610350" y="310515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17 bağ</a:t>
            </a:r>
          </a:p>
        </p:txBody>
      </p:sp>
      <p:sp>
        <p:nvSpPr>
          <p:cNvPr id="9" name="">
            <a:extLst xmlns:a="http://schemas.openxmlformats.org/drawingml/2006/main">
              <a:ext uri="{FF2B5EF4-FFF2-40B4-BE49-F238E27FC236}">
                <a16:creationId xmlns:a16="http://schemas.microsoft.com/office/drawing/2014/main" id="{36D21378-38A1-421B-B881-53D3FFF8A98B}"/>
              </a:ext>
            </a:extLst>
          </p:cNvPr>
          <p:cNvSpPr>
            <a:spLocks xmlns:a="http://schemas.openxmlformats.org/drawingml/2006/main" noGrp="1"/>
          </p:cNvSpPr>
          <p:nvPr/>
        </p:nvSpPr>
        <p:spPr>
          <a:xfrm xmlns:a="http://schemas.openxmlformats.org/drawingml/2006/main">
            <a:off x="6610350" y="359092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En yüksek derece düğüm 34'te.</a:t>
            </a:r>
          </a:p>
        </p:txBody>
      </p:sp>
      <p:sp>
        <p:nvSpPr>
          <p:cNvPr id="10" name="">
            <a:extLst xmlns:a="http://schemas.openxmlformats.org/drawingml/2006/main">
              <a:ext uri="{FF2B5EF4-FFF2-40B4-BE49-F238E27FC236}">
                <a16:creationId xmlns:a16="http://schemas.microsoft.com/office/drawing/2014/main" id="{386B44F5-9F13-4A86-BC9E-9F2D5F317639}"/>
              </a:ext>
            </a:extLst>
          </p:cNvPr>
          <p:cNvSpPr>
            <a:spLocks xmlns:a="http://schemas.openxmlformats.org/drawingml/2006/main" noGrp="1"/>
          </p:cNvSpPr>
          <p:nvPr/>
        </p:nvSpPr>
        <p:spPr>
          <a:xfrm xmlns:a="http://schemas.openxmlformats.org/drawingml/2006/main">
            <a:off x="6286500" y="4495800"/>
            <a:ext cx="5505450" cy="1352550"/>
          </a:xfrm>
          <a:prstGeom xmlns:a="http://schemas.openxmlformats.org/drawingml/2006/main" prst="roundRect">
            <a:avLst>
              <a:gd name="adj" fmla="val 5634"/>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5F1ED4-76CE-4683-9747-47C05FD53993}"/>
              </a:ext>
            </a:extLst>
          </p:cNvPr>
          <p:cNvSpPr>
            <a:spLocks xmlns:a="http://schemas.openxmlformats.org/drawingml/2006/main" noGrp="1"/>
          </p:cNvSpPr>
          <p:nvPr/>
        </p:nvSpPr>
        <p:spPr>
          <a:xfrm xmlns:a="http://schemas.openxmlformats.org/drawingml/2006/main">
            <a:off x="6610350" y="470535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-0,476</a:t>
            </a:r>
          </a:p>
        </p:txBody>
      </p:sp>
      <p:sp>
        <p:nvSpPr>
          <p:cNvPr id="12" name="">
            <a:extLst xmlns:a="http://schemas.openxmlformats.org/drawingml/2006/main">
              <a:ext uri="{FF2B5EF4-FFF2-40B4-BE49-F238E27FC236}">
                <a16:creationId xmlns:a16="http://schemas.microsoft.com/office/drawing/2014/main" id="{AA9FFBE5-221A-4F7D-A98D-9AAE9674CBBD}"/>
              </a:ext>
            </a:extLst>
          </p:cNvPr>
          <p:cNvSpPr>
            <a:spLocks xmlns:a="http://schemas.openxmlformats.org/drawingml/2006/main" noGrp="1"/>
          </p:cNvSpPr>
          <p:nvPr/>
        </p:nvSpPr>
        <p:spPr>
          <a:xfrm xmlns:a="http://schemas.openxmlformats.org/drawingml/2006/main">
            <a:off x="6610350" y="519112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Yüksek dereceliler düşük derecelilere bağlanıyor.</a:t>
            </a:r>
          </a:p>
        </p:txBody>
      </p:sp>
    </p:spTree>
    <p:extLst>
      <p:ext uri="{BB962C8B-B14F-4D97-AF65-F5344CB8AC3E}">
        <p14:creationId xmlns:p14="http://schemas.microsoft.com/office/powerpoint/2010/main" val="5750551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6">
            <a:extLst xmlns:a="http://schemas.openxmlformats.org/drawingml/2006/main">
              <a:ext uri="{FF2B5EF4-FFF2-40B4-BE49-F238E27FC236}">
                <a16:creationId xmlns:a16="http://schemas.microsoft.com/office/drawing/2014/main" id="{27C60DA3-DF7F-46B1-9722-67C12FBBB0A4}"/>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Köprü rolü iki liderde yoğunlaşıyor</a:t>
            </a:r>
          </a:p>
        </p:txBody>
      </p:sp>
      <p:sp>
        <p:nvSpPr>
          <p:cNvPr id="2" name="footer-6">
            <a:extLst xmlns:a="http://schemas.openxmlformats.org/drawingml/2006/main">
              <a:ext uri="{FF2B5EF4-FFF2-40B4-BE49-F238E27FC236}">
                <a16:creationId xmlns:a16="http://schemas.microsoft.com/office/drawing/2014/main" id="{A5F07B32-0016-4D7F-A87A-5169B47B9E6F}"/>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7108F010-9CC8-49DD-996E-8A7DD4063BCD}"/>
              </a:ext>
            </a:extLst>
          </p:cNvPr>
          <p:cNvSpPr>
            <a:spLocks xmlns:a="http://schemas.openxmlformats.org/drawingml/2006/main" noGrp="1"/>
          </p:cNvSpPr>
          <p:nvPr/>
        </p:nvSpPr>
        <p:spPr>
          <a:xfrm xmlns:a="http://schemas.openxmlformats.org/drawingml/2006/main">
            <a:off x="390525" y="1257300"/>
            <a:ext cx="5524500" cy="4857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graphicFrame>
        <p:nvGraphicFramePr>
          <p:cNvPr id="16" name="Chart"/>
          <p:cNvGraphicFramePr/>
          <p:nvPr/>
        </p:nvGraphicFramePr>
        <p:xfrm>
          <a:off xmlns:a="http://schemas.openxmlformats.org/drawingml/2006/main" x="628650" y="1524000"/>
          <a:ext xmlns:a="http://schemas.openxmlformats.org/drawingml/2006/main" cx="5048250" cy="4286250"/>
        </p:xfrm>
        <a:graphic xmlns:a="http://schemas.openxmlformats.org/drawingml/2006/main">
          <a:graphicData uri="http://schemas.openxmlformats.org/drawingml/2006/chart">
            <c:chart xmlns:r="http://schemas.openxmlformats.org/officeDocument/2006/relationships" xmlns:c="http://schemas.openxmlformats.org/drawingml/2006/chart" r:id="Rcccf767d669a4b73"/>
          </a:graphicData>
        </a:graphic>
      </p:graphicFrame>
      <p:sp>
        <p:nvSpPr>
          <p:cNvPr id="5" name="">
            <a:extLst xmlns:a="http://schemas.openxmlformats.org/drawingml/2006/main">
              <a:ext uri="{FF2B5EF4-FFF2-40B4-BE49-F238E27FC236}">
                <a16:creationId xmlns:a16="http://schemas.microsoft.com/office/drawing/2014/main" id="{DB83B7D7-3D95-4DAB-8011-43964481D31C}"/>
              </a:ext>
            </a:extLst>
          </p:cNvPr>
          <p:cNvSpPr>
            <a:spLocks xmlns:a="http://schemas.openxmlformats.org/drawingml/2006/main" noGrp="1"/>
          </p:cNvSpPr>
          <p:nvPr/>
        </p:nvSpPr>
        <p:spPr>
          <a:xfrm xmlns:a="http://schemas.openxmlformats.org/drawingml/2006/main">
            <a:off x="742950" y="13716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4B5563"/>
                </a:solidFill>
                <a:latin typeface="Arial"/>
                <a:ea typeface="Arial"/>
                <a:cs typeface="Arial"/>
              </a:defRPr>
            </a:pPr>
            <a:r>
              <a:rPr sz="1200" b="0">
                <a:solidFill>
                  <a:srgbClr val="4B5563"/>
                </a:solidFill>
                <a:latin typeface="Arial"/>
                <a:ea typeface="Arial"/>
                <a:cs typeface="Arial"/>
              </a:rPr>
              <a:t>Normalize aradalık (%)</a:t>
            </a:r>
          </a:p>
        </p:txBody>
      </p:sp>
      <p:sp>
        <p:nvSpPr>
          <p:cNvPr id="6" name="">
            <a:extLst xmlns:a="http://schemas.openxmlformats.org/drawingml/2006/main">
              <a:ext uri="{FF2B5EF4-FFF2-40B4-BE49-F238E27FC236}">
                <a16:creationId xmlns:a16="http://schemas.microsoft.com/office/drawing/2014/main" id="{487CA343-7343-40D3-92FA-C766D6FC7870}"/>
              </a:ext>
            </a:extLst>
          </p:cNvPr>
          <p:cNvSpPr>
            <a:spLocks xmlns:a="http://schemas.openxmlformats.org/drawingml/2006/main" noGrp="1"/>
          </p:cNvSpPr>
          <p:nvPr/>
        </p:nvSpPr>
        <p:spPr>
          <a:xfrm xmlns:a="http://schemas.openxmlformats.org/drawingml/2006/main">
            <a:off x="6429375" y="1666875"/>
            <a:ext cx="51911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Aradalık, bir düğümün en kısa yollar üzerinde ne ölçüde aracı olduğunu gösterir.</a:t>
            </a:r>
          </a:p>
        </p:txBody>
      </p:sp>
      <p:sp>
        <p:nvSpPr>
          <p:cNvPr id="7" name="">
            <a:extLst xmlns:a="http://schemas.openxmlformats.org/drawingml/2006/main">
              <a:ext uri="{FF2B5EF4-FFF2-40B4-BE49-F238E27FC236}">
                <a16:creationId xmlns:a16="http://schemas.microsoft.com/office/drawing/2014/main" id="{941DA854-FD8B-4DAB-992B-20113B8BBBE4}"/>
              </a:ext>
            </a:extLst>
          </p:cNvPr>
          <p:cNvSpPr>
            <a:spLocks xmlns:a="http://schemas.openxmlformats.org/drawingml/2006/main" noGrp="1"/>
          </p:cNvSpPr>
          <p:nvPr/>
        </p:nvSpPr>
        <p:spPr>
          <a:xfrm xmlns:a="http://schemas.openxmlformats.org/drawingml/2006/main">
            <a:off x="6362700" y="3543300"/>
            <a:ext cx="2590800" cy="2381250"/>
          </a:xfrm>
          <a:prstGeom xmlns:a="http://schemas.openxmlformats.org/drawingml/2006/main" prst="roundRect">
            <a:avLst>
              <a:gd name="adj" fmla="val 3200"/>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71D254-A44F-4991-8248-BD7678D17081}"/>
              </a:ext>
            </a:extLst>
          </p:cNvPr>
          <p:cNvSpPr>
            <a:spLocks xmlns:a="http://schemas.openxmlformats.org/drawingml/2006/main" noGrp="1"/>
          </p:cNvSpPr>
          <p:nvPr/>
        </p:nvSpPr>
        <p:spPr>
          <a:xfrm xmlns:a="http://schemas.openxmlformats.org/drawingml/2006/main">
            <a:off x="6600825" y="3857625"/>
            <a:ext cx="2095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0F766E"/>
                </a:solidFill>
                <a:latin typeface="Arial"/>
                <a:ea typeface="Arial"/>
                <a:cs typeface="Arial"/>
              </a:defRPr>
            </a:pPr>
            <a:r>
              <a:rPr sz="3375" b="1">
                <a:solidFill>
                  <a:srgbClr val="0F766E"/>
                </a:solidFill>
                <a:latin typeface="Arial"/>
                <a:ea typeface="Arial"/>
                <a:cs typeface="Arial"/>
              </a:rPr>
              <a:t>0,905</a:t>
            </a:r>
          </a:p>
        </p:txBody>
      </p:sp>
      <p:sp>
        <p:nvSpPr>
          <p:cNvPr id="9" name="">
            <a:extLst xmlns:a="http://schemas.openxmlformats.org/drawingml/2006/main">
              <a:ext uri="{FF2B5EF4-FFF2-40B4-BE49-F238E27FC236}">
                <a16:creationId xmlns:a16="http://schemas.microsoft.com/office/drawing/2014/main" id="{84985566-91E7-4890-8376-25F962067A4D}"/>
              </a:ext>
            </a:extLst>
          </p:cNvPr>
          <p:cNvSpPr>
            <a:spLocks xmlns:a="http://schemas.openxmlformats.org/drawingml/2006/main" noGrp="1"/>
          </p:cNvSpPr>
          <p:nvPr/>
        </p:nvSpPr>
        <p:spPr>
          <a:xfrm xmlns:a="http://schemas.openxmlformats.org/drawingml/2006/main">
            <a:off x="6600825" y="4905375"/>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Derece ↔ aradalık</a:t>
            </a:r>
          </a:p>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Spearman rho</a:t>
            </a:r>
          </a:p>
        </p:txBody>
      </p:sp>
      <p:sp>
        <p:nvSpPr>
          <p:cNvPr id="10" name="">
            <a:extLst xmlns:a="http://schemas.openxmlformats.org/drawingml/2006/main">
              <a:ext uri="{FF2B5EF4-FFF2-40B4-BE49-F238E27FC236}">
                <a16:creationId xmlns:a16="http://schemas.microsoft.com/office/drawing/2014/main" id="{AAD1D5D8-7CA6-4514-9946-E17BB2159D22}"/>
              </a:ext>
            </a:extLst>
          </p:cNvPr>
          <p:cNvSpPr>
            <a:spLocks xmlns:a="http://schemas.openxmlformats.org/drawingml/2006/main" noGrp="1"/>
          </p:cNvSpPr>
          <p:nvPr/>
        </p:nvSpPr>
        <p:spPr>
          <a:xfrm xmlns:a="http://schemas.openxmlformats.org/drawingml/2006/main">
            <a:off x="9315450" y="3543300"/>
            <a:ext cx="2590800" cy="2381250"/>
          </a:xfrm>
          <a:prstGeom xmlns:a="http://schemas.openxmlformats.org/drawingml/2006/main" prst="roundRect">
            <a:avLst>
              <a:gd name="adj" fmla="val 3200"/>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886DA6C-F7D9-4458-B14B-9C4F344C4C33}"/>
              </a:ext>
            </a:extLst>
          </p:cNvPr>
          <p:cNvSpPr>
            <a:spLocks xmlns:a="http://schemas.openxmlformats.org/drawingml/2006/main" noGrp="1"/>
          </p:cNvSpPr>
          <p:nvPr/>
        </p:nvSpPr>
        <p:spPr>
          <a:xfrm xmlns:a="http://schemas.openxmlformats.org/drawingml/2006/main">
            <a:off x="9553575" y="3857625"/>
            <a:ext cx="2095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0F766E"/>
                </a:solidFill>
                <a:latin typeface="Arial"/>
                <a:ea typeface="Arial"/>
                <a:cs typeface="Arial"/>
              </a:defRPr>
            </a:pPr>
            <a:r>
              <a:rPr sz="3375" b="1">
                <a:solidFill>
                  <a:srgbClr val="0F766E"/>
                </a:solidFill>
                <a:latin typeface="Arial"/>
                <a:ea typeface="Arial"/>
                <a:cs typeface="Arial"/>
              </a:rPr>
              <a:t>1 &amp; 34</a:t>
            </a:r>
          </a:p>
        </p:txBody>
      </p:sp>
      <p:sp>
        <p:nvSpPr>
          <p:cNvPr id="12" name="">
            <a:extLst xmlns:a="http://schemas.openxmlformats.org/drawingml/2006/main">
              <a:ext uri="{FF2B5EF4-FFF2-40B4-BE49-F238E27FC236}">
                <a16:creationId xmlns:a16="http://schemas.microsoft.com/office/drawing/2014/main" id="{FFDA9429-7E48-405D-AEB4-EB6BD84EE863}"/>
              </a:ext>
            </a:extLst>
          </p:cNvPr>
          <p:cNvSpPr>
            <a:spLocks xmlns:a="http://schemas.openxmlformats.org/drawingml/2006/main" noGrp="1"/>
          </p:cNvSpPr>
          <p:nvPr/>
        </p:nvSpPr>
        <p:spPr>
          <a:xfrm xmlns:a="http://schemas.openxmlformats.org/drawingml/2006/main">
            <a:off x="9553575" y="4905375"/>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İki ana lider</a:t>
            </a:r>
          </a:p>
          <a:p xmlns:a="http://schemas.openxmlformats.org/drawingml/2006/main">
            <a:pPr algn="l">
              <a:defRPr sz="1500" b="0">
                <a:solidFill>
                  <a:srgbClr val="4B5563"/>
                </a:solidFill>
                <a:latin typeface="Arial"/>
                <a:ea typeface="Arial"/>
                <a:cs typeface="Arial"/>
              </a:defRPr>
            </a:pPr>
            <a:r>
              <a:rPr sz="1500" b="0">
                <a:solidFill>
                  <a:srgbClr val="4B5563"/>
                </a:solidFill>
                <a:latin typeface="Arial"/>
                <a:ea typeface="Arial"/>
                <a:cs typeface="Arial"/>
              </a:rPr>
              <a:t>ve köprü odağı</a:t>
            </a:r>
          </a:p>
        </p:txBody>
      </p:sp>
    </p:spTree>
    <p:extLst>
      <p:ext uri="{BB962C8B-B14F-4D97-AF65-F5344CB8AC3E}">
        <p14:creationId xmlns:p14="http://schemas.microsoft.com/office/powerpoint/2010/main" val="6303797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7">
            <a:extLst xmlns:a="http://schemas.openxmlformats.org/drawingml/2006/main">
              <a:ext uri="{FF2B5EF4-FFF2-40B4-BE49-F238E27FC236}">
                <a16:creationId xmlns:a16="http://schemas.microsoft.com/office/drawing/2014/main" id="{FC126D16-83B9-4612-ABF4-3DE389EEB193}"/>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Algoritma gerçek bölünmeyi yalnız iki üyede kaçırdı</a:t>
            </a:r>
          </a:p>
        </p:txBody>
      </p:sp>
      <p:sp>
        <p:nvSpPr>
          <p:cNvPr id="2" name="footer-7">
            <a:extLst xmlns:a="http://schemas.openxmlformats.org/drawingml/2006/main">
              <a:ext uri="{FF2B5EF4-FFF2-40B4-BE49-F238E27FC236}">
                <a16:creationId xmlns:a16="http://schemas.microsoft.com/office/drawing/2014/main" id="{D5F1BDD8-D74A-4045-B1E2-0278E804BD51}"/>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C497CDDB-C6F8-4456-858F-F64BE96F15B5}"/>
              </a:ext>
            </a:extLst>
          </p:cNvPr>
          <p:cNvSpPr>
            <a:spLocks xmlns:a="http://schemas.openxmlformats.org/drawingml/2006/main" noGrp="1"/>
          </p:cNvSpPr>
          <p:nvPr/>
        </p:nvSpPr>
        <p:spPr>
          <a:xfrm xmlns:a="http://schemas.openxmlformats.org/drawingml/2006/main">
            <a:off x="390525" y="1857375"/>
            <a:ext cx="3581400" cy="4095750"/>
          </a:xfrm>
          <a:prstGeom xmlns:a="http://schemas.openxmlformats.org/drawingml/2006/main" prst="roundRect">
            <a:avLst>
              <a:gd name="adj" fmla="val 2128"/>
            </a:avLst>
          </a:prstGeom>
          <a:solidFill xmlns:a="http://schemas.openxmlformats.org/drawingml/2006/main">
            <a:srgbClr val="EDEDE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C7E045-D032-480B-8207-C5DD5CA561A4}"/>
              </a:ext>
            </a:extLst>
          </p:cNvPr>
          <p:cNvSpPr>
            <a:spLocks xmlns:a="http://schemas.openxmlformats.org/drawingml/2006/main" noGrp="1"/>
          </p:cNvSpPr>
          <p:nvPr/>
        </p:nvSpPr>
        <p:spPr>
          <a:xfrm xmlns:a="http://schemas.openxmlformats.org/drawingml/2006/main">
            <a:off x="657225" y="223837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Gerçek ayrışma</a:t>
            </a:r>
          </a:p>
        </p:txBody>
      </p:sp>
      <p:sp>
        <p:nvSpPr>
          <p:cNvPr id="5" name="">
            <a:extLst xmlns:a="http://schemas.openxmlformats.org/drawingml/2006/main">
              <a:ext uri="{FF2B5EF4-FFF2-40B4-BE49-F238E27FC236}">
                <a16:creationId xmlns:a16="http://schemas.microsoft.com/office/drawing/2014/main" id="{4AC7CD4E-8515-4984-926B-FF1D648C5C35}"/>
              </a:ext>
            </a:extLst>
          </p:cNvPr>
          <p:cNvSpPr>
            <a:spLocks xmlns:a="http://schemas.openxmlformats.org/drawingml/2006/main" noGrp="1"/>
          </p:cNvSpPr>
          <p:nvPr/>
        </p:nvSpPr>
        <p:spPr>
          <a:xfrm xmlns:a="http://schemas.openxmlformats.org/drawingml/2006/main">
            <a:off x="657225" y="297180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34 üyeden 32'si doğru tarafta sınıflandı.</a:t>
            </a:r>
          </a:p>
        </p:txBody>
      </p:sp>
      <p:sp>
        <p:nvSpPr>
          <p:cNvPr id="6" name="">
            <a:extLst xmlns:a="http://schemas.openxmlformats.org/drawingml/2006/main">
              <a:ext uri="{FF2B5EF4-FFF2-40B4-BE49-F238E27FC236}">
                <a16:creationId xmlns:a16="http://schemas.microsoft.com/office/drawing/2014/main" id="{865034D5-6DC5-422A-99CE-D49B37A6367D}"/>
              </a:ext>
            </a:extLst>
          </p:cNvPr>
          <p:cNvSpPr>
            <a:spLocks xmlns:a="http://schemas.openxmlformats.org/drawingml/2006/main" noGrp="1"/>
          </p:cNvSpPr>
          <p:nvPr/>
        </p:nvSpPr>
        <p:spPr>
          <a:xfrm xmlns:a="http://schemas.openxmlformats.org/drawingml/2006/main">
            <a:off x="657225" y="44767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DOĞRULUK</a:t>
            </a:r>
          </a:p>
        </p:txBody>
      </p:sp>
      <p:sp>
        <p:nvSpPr>
          <p:cNvPr id="7" name="">
            <a:extLst xmlns:a="http://schemas.openxmlformats.org/drawingml/2006/main">
              <a:ext uri="{FF2B5EF4-FFF2-40B4-BE49-F238E27FC236}">
                <a16:creationId xmlns:a16="http://schemas.microsoft.com/office/drawing/2014/main" id="{89D72F69-5491-4C62-98FF-86D2A4714B67}"/>
              </a:ext>
            </a:extLst>
          </p:cNvPr>
          <p:cNvSpPr>
            <a:spLocks xmlns:a="http://schemas.openxmlformats.org/drawingml/2006/main" noGrp="1"/>
          </p:cNvSpPr>
          <p:nvPr/>
        </p:nvSpPr>
        <p:spPr>
          <a:xfrm xmlns:a="http://schemas.openxmlformats.org/drawingml/2006/main">
            <a:off x="657225" y="49530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a:solidFill>
                  <a:srgbClr val="000000"/>
                </a:solidFill>
                <a:latin typeface="Arial"/>
                <a:ea typeface="Arial"/>
                <a:cs typeface="Arial"/>
              </a:defRPr>
            </a:pPr>
            <a:r>
              <a:rPr sz="3675" b="1">
                <a:solidFill>
                  <a:srgbClr val="000000"/>
                </a:solidFill>
                <a:latin typeface="Arial"/>
                <a:ea typeface="Arial"/>
                <a:cs typeface="Arial"/>
              </a:rPr>
              <a:t>%94,1</a:t>
            </a:r>
          </a:p>
        </p:txBody>
      </p:sp>
      <p:sp>
        <p:nvSpPr>
          <p:cNvPr id="8" name="">
            <a:extLst xmlns:a="http://schemas.openxmlformats.org/drawingml/2006/main">
              <a:ext uri="{FF2B5EF4-FFF2-40B4-BE49-F238E27FC236}">
                <a16:creationId xmlns:a16="http://schemas.microsoft.com/office/drawing/2014/main" id="{548416CC-F4C0-41BB-9196-AC0F5F07CFBC}"/>
              </a:ext>
            </a:extLst>
          </p:cNvPr>
          <p:cNvSpPr>
            <a:spLocks xmlns:a="http://schemas.openxmlformats.org/drawingml/2006/main" noGrp="1"/>
          </p:cNvSpPr>
          <p:nvPr/>
        </p:nvSpPr>
        <p:spPr>
          <a:xfrm xmlns:a="http://schemas.openxmlformats.org/drawingml/2006/main">
            <a:off x="4305300" y="1857375"/>
            <a:ext cx="3581400" cy="4095750"/>
          </a:xfrm>
          <a:prstGeom xmlns:a="http://schemas.openxmlformats.org/drawingml/2006/main" prst="roundRect">
            <a:avLst>
              <a:gd name="adj" fmla="val 2128"/>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7B7564-1D13-45A9-9A9D-BE580C54808E}"/>
              </a:ext>
            </a:extLst>
          </p:cNvPr>
          <p:cNvSpPr>
            <a:spLocks xmlns:a="http://schemas.openxmlformats.org/drawingml/2006/main" noGrp="1"/>
          </p:cNvSpPr>
          <p:nvPr/>
        </p:nvSpPr>
        <p:spPr>
          <a:xfrm xmlns:a="http://schemas.openxmlformats.org/drawingml/2006/main">
            <a:off x="4572000" y="223837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Etiket uyumu</a:t>
            </a:r>
          </a:p>
        </p:txBody>
      </p:sp>
      <p:sp>
        <p:nvSpPr>
          <p:cNvPr id="10" name="">
            <a:extLst xmlns:a="http://schemas.openxmlformats.org/drawingml/2006/main">
              <a:ext uri="{FF2B5EF4-FFF2-40B4-BE49-F238E27FC236}">
                <a16:creationId xmlns:a16="http://schemas.microsoft.com/office/drawing/2014/main" id="{2027B720-6DA4-478C-A998-26A3CD0BDBC1}"/>
              </a:ext>
            </a:extLst>
          </p:cNvPr>
          <p:cNvSpPr>
            <a:spLocks xmlns:a="http://schemas.openxmlformats.org/drawingml/2006/main" noGrp="1"/>
          </p:cNvSpPr>
          <p:nvPr/>
        </p:nvSpPr>
        <p:spPr>
          <a:xfrm xmlns:a="http://schemas.openxmlformats.org/drawingml/2006/main">
            <a:off x="4572000" y="297180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Şansa göre düzeltilmiş güçlü eşleşme.</a:t>
            </a:r>
          </a:p>
        </p:txBody>
      </p:sp>
      <p:sp>
        <p:nvSpPr>
          <p:cNvPr id="11" name="">
            <a:extLst xmlns:a="http://schemas.openxmlformats.org/drawingml/2006/main">
              <a:ext uri="{FF2B5EF4-FFF2-40B4-BE49-F238E27FC236}">
                <a16:creationId xmlns:a16="http://schemas.microsoft.com/office/drawing/2014/main" id="{10856CCB-FC47-4126-AF6D-1E50486A0E09}"/>
              </a:ext>
            </a:extLst>
          </p:cNvPr>
          <p:cNvSpPr>
            <a:spLocks xmlns:a="http://schemas.openxmlformats.org/drawingml/2006/main" noGrp="1"/>
          </p:cNvSpPr>
          <p:nvPr/>
        </p:nvSpPr>
        <p:spPr>
          <a:xfrm xmlns:a="http://schemas.openxmlformats.org/drawingml/2006/main">
            <a:off x="4572000" y="44767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ARI</a:t>
            </a:r>
          </a:p>
        </p:txBody>
      </p:sp>
      <p:sp>
        <p:nvSpPr>
          <p:cNvPr id="12" name="">
            <a:extLst xmlns:a="http://schemas.openxmlformats.org/drawingml/2006/main">
              <a:ext uri="{FF2B5EF4-FFF2-40B4-BE49-F238E27FC236}">
                <a16:creationId xmlns:a16="http://schemas.microsoft.com/office/drawing/2014/main" id="{9EF07931-AC9F-49BA-8B8E-B66B26733ED7}"/>
              </a:ext>
            </a:extLst>
          </p:cNvPr>
          <p:cNvSpPr>
            <a:spLocks xmlns:a="http://schemas.openxmlformats.org/drawingml/2006/main" noGrp="1"/>
          </p:cNvSpPr>
          <p:nvPr/>
        </p:nvSpPr>
        <p:spPr>
          <a:xfrm xmlns:a="http://schemas.openxmlformats.org/drawingml/2006/main">
            <a:off x="4572000" y="49530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a:solidFill>
                  <a:srgbClr val="000000"/>
                </a:solidFill>
                <a:latin typeface="Arial"/>
                <a:ea typeface="Arial"/>
                <a:cs typeface="Arial"/>
              </a:defRPr>
            </a:pPr>
            <a:r>
              <a:rPr sz="3675" b="1">
                <a:solidFill>
                  <a:srgbClr val="000000"/>
                </a:solidFill>
                <a:latin typeface="Arial"/>
                <a:ea typeface="Arial"/>
                <a:cs typeface="Arial"/>
              </a:rPr>
              <a:t>0,772</a:t>
            </a:r>
          </a:p>
        </p:txBody>
      </p:sp>
      <p:sp>
        <p:nvSpPr>
          <p:cNvPr id="13" name="">
            <a:extLst xmlns:a="http://schemas.openxmlformats.org/drawingml/2006/main">
              <a:ext uri="{FF2B5EF4-FFF2-40B4-BE49-F238E27FC236}">
                <a16:creationId xmlns:a16="http://schemas.microsoft.com/office/drawing/2014/main" id="{B0A1520A-8D22-476D-8FE0-317F716F5323}"/>
              </a:ext>
            </a:extLst>
          </p:cNvPr>
          <p:cNvSpPr>
            <a:spLocks xmlns:a="http://schemas.openxmlformats.org/drawingml/2006/main" noGrp="1"/>
          </p:cNvSpPr>
          <p:nvPr/>
        </p:nvSpPr>
        <p:spPr>
          <a:xfrm xmlns:a="http://schemas.openxmlformats.org/drawingml/2006/main">
            <a:off x="8220075" y="1857375"/>
            <a:ext cx="3581400" cy="4095750"/>
          </a:xfrm>
          <a:prstGeom xmlns:a="http://schemas.openxmlformats.org/drawingml/2006/main" prst="roundRect">
            <a:avLst>
              <a:gd name="adj" fmla="val 2128"/>
            </a:avLst>
          </a:prstGeom>
          <a:solidFill xmlns:a="http://schemas.openxmlformats.org/drawingml/2006/main">
            <a:srgbClr val="EDED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CF50AD-F2E3-4EEE-9CC7-5613472DBB8F}"/>
              </a:ext>
            </a:extLst>
          </p:cNvPr>
          <p:cNvSpPr>
            <a:spLocks xmlns:a="http://schemas.openxmlformats.org/drawingml/2006/main" noGrp="1"/>
          </p:cNvSpPr>
          <p:nvPr/>
        </p:nvSpPr>
        <p:spPr>
          <a:xfrm xmlns:a="http://schemas.openxmlformats.org/drawingml/2006/main">
            <a:off x="8486775" y="223837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Topluluk ayrımı</a:t>
            </a:r>
          </a:p>
        </p:txBody>
      </p:sp>
      <p:sp>
        <p:nvSpPr>
          <p:cNvPr id="15" name="">
            <a:extLst xmlns:a="http://schemas.openxmlformats.org/drawingml/2006/main">
              <a:ext uri="{FF2B5EF4-FFF2-40B4-BE49-F238E27FC236}">
                <a16:creationId xmlns:a16="http://schemas.microsoft.com/office/drawing/2014/main" id="{D8720254-9CD5-4C04-834C-7D750438734D}"/>
              </a:ext>
            </a:extLst>
          </p:cNvPr>
          <p:cNvSpPr>
            <a:spLocks xmlns:a="http://schemas.openxmlformats.org/drawingml/2006/main" noGrp="1"/>
          </p:cNvSpPr>
          <p:nvPr/>
        </p:nvSpPr>
        <p:spPr>
          <a:xfrm xmlns:a="http://schemas.openxmlformats.org/drawingml/2006/main">
            <a:off x="8486775" y="297180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15 ve 19 üyeli iki yapısal grup.</a:t>
            </a:r>
          </a:p>
        </p:txBody>
      </p:sp>
      <p:sp>
        <p:nvSpPr>
          <p:cNvPr id="16" name="">
            <a:extLst xmlns:a="http://schemas.openxmlformats.org/drawingml/2006/main">
              <a:ext uri="{FF2B5EF4-FFF2-40B4-BE49-F238E27FC236}">
                <a16:creationId xmlns:a16="http://schemas.microsoft.com/office/drawing/2014/main" id="{6B517F3E-010B-49B1-B480-01D028C3D53E}"/>
              </a:ext>
            </a:extLst>
          </p:cNvPr>
          <p:cNvSpPr>
            <a:spLocks xmlns:a="http://schemas.openxmlformats.org/drawingml/2006/main" noGrp="1"/>
          </p:cNvSpPr>
          <p:nvPr/>
        </p:nvSpPr>
        <p:spPr>
          <a:xfrm xmlns:a="http://schemas.openxmlformats.org/drawingml/2006/main">
            <a:off x="8486775" y="44767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MODÜLERLİK</a:t>
            </a:r>
          </a:p>
        </p:txBody>
      </p:sp>
      <p:sp>
        <p:nvSpPr>
          <p:cNvPr id="17" name="">
            <a:extLst xmlns:a="http://schemas.openxmlformats.org/drawingml/2006/main">
              <a:ext uri="{FF2B5EF4-FFF2-40B4-BE49-F238E27FC236}">
                <a16:creationId xmlns:a16="http://schemas.microsoft.com/office/drawing/2014/main" id="{639E6051-B21C-419F-B023-F9F631914462}"/>
              </a:ext>
            </a:extLst>
          </p:cNvPr>
          <p:cNvSpPr>
            <a:spLocks xmlns:a="http://schemas.openxmlformats.org/drawingml/2006/main" noGrp="1"/>
          </p:cNvSpPr>
          <p:nvPr/>
        </p:nvSpPr>
        <p:spPr>
          <a:xfrm xmlns:a="http://schemas.openxmlformats.org/drawingml/2006/main">
            <a:off x="8486775" y="49530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a:solidFill>
                  <a:srgbClr val="000000"/>
                </a:solidFill>
                <a:latin typeface="Arial"/>
                <a:ea typeface="Arial"/>
                <a:cs typeface="Arial"/>
              </a:defRPr>
            </a:pPr>
            <a:r>
              <a:rPr sz="3675" b="1">
                <a:solidFill>
                  <a:srgbClr val="000000"/>
                </a:solidFill>
                <a:latin typeface="Arial"/>
                <a:ea typeface="Arial"/>
                <a:cs typeface="Arial"/>
              </a:rPr>
              <a:t>0,348</a:t>
            </a:r>
          </a:p>
        </p:txBody>
      </p:sp>
    </p:spTree>
    <p:extLst>
      <p:ext uri="{BB962C8B-B14F-4D97-AF65-F5344CB8AC3E}">
        <p14:creationId xmlns:p14="http://schemas.microsoft.com/office/powerpoint/2010/main" val="9280146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8">
            <a:extLst xmlns:a="http://schemas.openxmlformats.org/drawingml/2006/main">
              <a:ext uri="{FF2B5EF4-FFF2-40B4-BE49-F238E27FC236}">
                <a16:creationId xmlns:a16="http://schemas.microsoft.com/office/drawing/2014/main" id="{1DE1B140-0779-4764-9025-F6690029CE75}"/>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Bulgular güçlü; yorumun sınırları da açık</a:t>
            </a:r>
          </a:p>
        </p:txBody>
      </p:sp>
      <p:sp>
        <p:nvSpPr>
          <p:cNvPr id="2" name="footer-8">
            <a:extLst xmlns:a="http://schemas.openxmlformats.org/drawingml/2006/main">
              <a:ext uri="{FF2B5EF4-FFF2-40B4-BE49-F238E27FC236}">
                <a16:creationId xmlns:a16="http://schemas.microsoft.com/office/drawing/2014/main" id="{428D37E5-D820-4293-B0EB-ABBFC8CEE672}"/>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E36B9EE7-7448-47E8-B1FF-728729F15496}"/>
              </a:ext>
            </a:extLst>
          </p:cNvPr>
          <p:cNvSpPr>
            <a:spLocks xmlns:a="http://schemas.openxmlformats.org/drawingml/2006/main" noGrp="1"/>
          </p:cNvSpPr>
          <p:nvPr/>
        </p:nvSpPr>
        <p:spPr>
          <a:xfrm xmlns:a="http://schemas.openxmlformats.org/drawingml/2006/main">
            <a:off x="390525" y="19526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Yapısal ders</a:t>
            </a:r>
          </a:p>
        </p:txBody>
      </p:sp>
      <p:sp>
        <p:nvSpPr>
          <p:cNvPr id="4" name="">
            <a:extLst xmlns:a="http://schemas.openxmlformats.org/drawingml/2006/main">
              <a:ext uri="{FF2B5EF4-FFF2-40B4-BE49-F238E27FC236}">
                <a16:creationId xmlns:a16="http://schemas.microsoft.com/office/drawing/2014/main" id="{38C8D65D-29AC-48B0-A62F-23FCC3FA5DBF}"/>
              </a:ext>
            </a:extLst>
          </p:cNvPr>
          <p:cNvSpPr>
            <a:spLocks xmlns:a="http://schemas.openxmlformats.org/drawingml/2006/main" noGrp="1"/>
          </p:cNvSpPr>
          <p:nvPr/>
        </p:nvSpPr>
        <p:spPr>
          <a:xfrm xmlns:a="http://schemas.openxmlformats.org/drawingml/2006/main">
            <a:off x="390525" y="26384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Bağların kime yöneldiği, bağlantı sayısından daha açıklayıcı.</a:t>
            </a:r>
          </a:p>
        </p:txBody>
      </p:sp>
      <p:sp>
        <p:nvSpPr>
          <p:cNvPr id="5" name="">
            <a:extLst xmlns:a="http://schemas.openxmlformats.org/drawingml/2006/main">
              <a:ext uri="{FF2B5EF4-FFF2-40B4-BE49-F238E27FC236}">
                <a16:creationId xmlns:a16="http://schemas.microsoft.com/office/drawing/2014/main" id="{6565D2A7-ED96-4358-A140-38DB416EA27E}"/>
              </a:ext>
            </a:extLst>
          </p:cNvPr>
          <p:cNvSpPr>
            <a:spLocks xmlns:a="http://schemas.openxmlformats.org/drawingml/2006/main" noGrp="1"/>
          </p:cNvSpPr>
          <p:nvPr/>
        </p:nvSpPr>
        <p:spPr>
          <a:xfrm xmlns:a="http://schemas.openxmlformats.org/drawingml/2006/main">
            <a:off x="6257925" y="19526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Toplumsal anlam</a:t>
            </a:r>
          </a:p>
        </p:txBody>
      </p:sp>
      <p:sp>
        <p:nvSpPr>
          <p:cNvPr id="6" name="">
            <a:extLst xmlns:a="http://schemas.openxmlformats.org/drawingml/2006/main">
              <a:ext uri="{FF2B5EF4-FFF2-40B4-BE49-F238E27FC236}">
                <a16:creationId xmlns:a16="http://schemas.microsoft.com/office/drawing/2014/main" id="{00623279-8000-415F-BCD1-EC414DB65B1F}"/>
              </a:ext>
            </a:extLst>
          </p:cNvPr>
          <p:cNvSpPr>
            <a:spLocks xmlns:a="http://schemas.openxmlformats.org/drawingml/2006/main" noGrp="1"/>
          </p:cNvSpPr>
          <p:nvPr/>
        </p:nvSpPr>
        <p:spPr>
          <a:xfrm xmlns:a="http://schemas.openxmlformats.org/drawingml/2006/main">
            <a:off x="6257925" y="26384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Bölünme bir anda oluşmadı; önceden var olan sınırları izledi.</a:t>
            </a:r>
          </a:p>
        </p:txBody>
      </p:sp>
      <p:sp>
        <p:nvSpPr>
          <p:cNvPr id="7" name="">
            <a:extLst xmlns:a="http://schemas.openxmlformats.org/drawingml/2006/main">
              <a:ext uri="{FF2B5EF4-FFF2-40B4-BE49-F238E27FC236}">
                <a16:creationId xmlns:a16="http://schemas.microsoft.com/office/drawing/2014/main" id="{32A945C7-5C54-43F1-8FFA-F4F0D019BE80}"/>
              </a:ext>
            </a:extLst>
          </p:cNvPr>
          <p:cNvSpPr>
            <a:spLocks xmlns:a="http://schemas.openxmlformats.org/drawingml/2006/main" noGrp="1"/>
          </p:cNvSpPr>
          <p:nvPr/>
        </p:nvSpPr>
        <p:spPr>
          <a:xfrm xmlns:a="http://schemas.openxmlformats.org/drawingml/2006/main">
            <a:off x="390525" y="40481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F97316"/>
                </a:solidFill>
                <a:latin typeface="Arial"/>
                <a:ea typeface="Arial"/>
                <a:cs typeface="Arial"/>
              </a:defRPr>
            </a:pPr>
            <a:r>
              <a:rPr sz="2025" b="1">
                <a:solidFill>
                  <a:srgbClr val="F97316"/>
                </a:solidFill>
                <a:latin typeface="Arial"/>
                <a:ea typeface="Arial"/>
                <a:cs typeface="Arial"/>
              </a:rPr>
              <a:t>Sınırlılık</a:t>
            </a:r>
          </a:p>
        </p:txBody>
      </p:sp>
      <p:sp>
        <p:nvSpPr>
          <p:cNvPr id="8" name="">
            <a:extLst xmlns:a="http://schemas.openxmlformats.org/drawingml/2006/main">
              <a:ext uri="{FF2B5EF4-FFF2-40B4-BE49-F238E27FC236}">
                <a16:creationId xmlns:a16="http://schemas.microsoft.com/office/drawing/2014/main" id="{706C4AD8-F1A9-4E26-925C-5BF1F530619A}"/>
              </a:ext>
            </a:extLst>
          </p:cNvPr>
          <p:cNvSpPr>
            <a:spLocks xmlns:a="http://schemas.openxmlformats.org/drawingml/2006/main" noGrp="1"/>
          </p:cNvSpPr>
          <p:nvPr/>
        </p:nvSpPr>
        <p:spPr>
          <a:xfrm xmlns:a="http://schemas.openxmlformats.org/drawingml/2006/main">
            <a:off x="390525" y="47339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34 kişilik tek ve ağırlıksız bir ağ genellenemez.</a:t>
            </a:r>
          </a:p>
        </p:txBody>
      </p:sp>
      <p:sp>
        <p:nvSpPr>
          <p:cNvPr id="9" name="">
            <a:extLst xmlns:a="http://schemas.openxmlformats.org/drawingml/2006/main">
              <a:ext uri="{FF2B5EF4-FFF2-40B4-BE49-F238E27FC236}">
                <a16:creationId xmlns:a16="http://schemas.microsoft.com/office/drawing/2014/main" id="{97F84646-9CCA-4F0B-B63C-B472994E146D}"/>
              </a:ext>
            </a:extLst>
          </p:cNvPr>
          <p:cNvSpPr>
            <a:spLocks xmlns:a="http://schemas.openxmlformats.org/drawingml/2006/main" noGrp="1"/>
          </p:cNvSpPr>
          <p:nvPr/>
        </p:nvSpPr>
        <p:spPr>
          <a:xfrm xmlns:a="http://schemas.openxmlformats.org/drawingml/2006/main">
            <a:off x="6257925" y="40481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Sonraki adım</a:t>
            </a:r>
          </a:p>
        </p:txBody>
      </p:sp>
      <p:sp>
        <p:nvSpPr>
          <p:cNvPr id="10" name="">
            <a:extLst xmlns:a="http://schemas.openxmlformats.org/drawingml/2006/main">
              <a:ext uri="{FF2B5EF4-FFF2-40B4-BE49-F238E27FC236}">
                <a16:creationId xmlns:a16="http://schemas.microsoft.com/office/drawing/2014/main" id="{453D6B16-A80F-4933-8537-442D57F633B6}"/>
              </a:ext>
            </a:extLst>
          </p:cNvPr>
          <p:cNvSpPr>
            <a:spLocks xmlns:a="http://schemas.openxmlformats.org/drawingml/2006/main" noGrp="1"/>
          </p:cNvSpPr>
          <p:nvPr/>
        </p:nvSpPr>
        <p:spPr>
          <a:xfrm xmlns:a="http://schemas.openxmlformats.org/drawingml/2006/main">
            <a:off x="6257925" y="47339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Zamansal/ağırlıklı veri ve Louvain-Leiden karşılaştırması.</a:t>
            </a:r>
          </a:p>
        </p:txBody>
      </p:sp>
    </p:spTree>
    <p:extLst>
      <p:ext uri="{BB962C8B-B14F-4D97-AF65-F5344CB8AC3E}">
        <p14:creationId xmlns:p14="http://schemas.microsoft.com/office/powerpoint/2010/main" val="2113846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9">
            <a:extLst xmlns:a="http://schemas.openxmlformats.org/drawingml/2006/main">
              <a:ext uri="{FF2B5EF4-FFF2-40B4-BE49-F238E27FC236}">
                <a16:creationId xmlns:a16="http://schemas.microsoft.com/office/drawing/2014/main" id="{B54C1972-3883-43F3-A3A0-11E880DE0687}"/>
              </a:ext>
            </a:extLst>
          </p:cNvPr>
          <p:cNvSpPr>
            <a:spLocks xmlns:a="http://schemas.openxmlformats.org/drawingml/2006/main" noGrp="1"/>
          </p:cNvSpPr>
          <p:nvPr/>
        </p:nvSpPr>
        <p:spPr>
          <a:xfrm xmlns:a="http://schemas.openxmlformats.org/drawingml/2006/main">
            <a:off x="390525" y="342900"/>
            <a:ext cx="11410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latin typeface="Arial"/>
                <a:ea typeface="Arial"/>
                <a:cs typeface="Arial"/>
              </a:defRPr>
            </a:pPr>
            <a:r>
              <a:rPr sz="2925" b="1">
                <a:solidFill>
                  <a:srgbClr val="000000"/>
                </a:solidFill>
                <a:latin typeface="Arial"/>
                <a:ea typeface="Arial"/>
                <a:cs typeface="Arial"/>
              </a:rPr>
              <a:t>Canlı demo, rapordaki her sonucu notebook'ta yeniden üretiyor</a:t>
            </a:r>
          </a:p>
        </p:txBody>
      </p:sp>
      <p:sp>
        <p:nvSpPr>
          <p:cNvPr id="2" name="footer-9">
            <a:extLst xmlns:a="http://schemas.openxmlformats.org/drawingml/2006/main">
              <a:ext uri="{FF2B5EF4-FFF2-40B4-BE49-F238E27FC236}">
                <a16:creationId xmlns:a16="http://schemas.microsoft.com/office/drawing/2014/main" id="{FB677D37-0F84-41E7-B14A-DA66F9C454CD}"/>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r">
              <a:defRPr sz="1050" b="0">
                <a:solidFill>
                  <a:srgbClr val="4B5563"/>
                </a:solidFill>
                <a:latin typeface="Arial"/>
                <a:ea typeface="Arial"/>
                <a:cs typeface="Arial"/>
              </a:defRPr>
            </a:pPr>
            <a:r>
              <a:rPr sz="1050" b="0">
                <a:solidFill>
                  <a:srgbClr val="4B5563"/>
                </a:solidFill>
                <a:latin typeface="Arial"/>
                <a:ea typeface="Arial"/>
                <a:cs typeface="Arial"/>
              </a:rPr>
              <a:t>9</a:t>
            </a:r>
          </a:p>
        </p:txBody>
      </p:sp>
      <p:sp>
        <p:nvSpPr>
          <p:cNvPr id="3" name="demo-line">
            <a:extLst xmlns:a="http://schemas.openxmlformats.org/drawingml/2006/main">
              <a:ext uri="{FF2B5EF4-FFF2-40B4-BE49-F238E27FC236}">
                <a16:creationId xmlns:a16="http://schemas.microsoft.com/office/drawing/2014/main" id="{67C2EE4C-0EFD-4515-AFD0-5797797162C3}"/>
              </a:ext>
            </a:extLst>
          </p:cNvPr>
          <p:cNvSpPr>
            <a:spLocks xmlns:a="http://schemas.openxmlformats.org/drawingml/2006/main" noGrp="1"/>
          </p:cNvSpPr>
          <p:nvPr/>
        </p:nvSpPr>
        <p:spPr>
          <a:xfrm xmlns:a="http://schemas.openxmlformats.org/drawingml/2006/main">
            <a:off x="400050" y="3352800"/>
            <a:ext cx="1139190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68FB9A-5994-40B1-9121-1042DBC4B829}"/>
              </a:ext>
            </a:extLst>
          </p:cNvPr>
          <p:cNvSpPr>
            <a:spLocks xmlns:a="http://schemas.openxmlformats.org/drawingml/2006/main" noGrp="1"/>
          </p:cNvSpPr>
          <p:nvPr/>
        </p:nvSpPr>
        <p:spPr>
          <a:xfrm xmlns:a="http://schemas.openxmlformats.org/drawingml/2006/main">
            <a:off x="400050" y="28194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B5563"/>
                </a:solidFill>
                <a:latin typeface="Arial"/>
                <a:ea typeface="Arial"/>
                <a:cs typeface="Arial"/>
              </a:defRPr>
            </a:pPr>
            <a:r>
              <a:rPr sz="1350" b="1">
                <a:solidFill>
                  <a:srgbClr val="4B5563"/>
                </a:solidFill>
                <a:latin typeface="Arial"/>
                <a:ea typeface="Arial"/>
                <a:cs typeface="Arial"/>
              </a:rPr>
              <a:t>01 • YÜKLE</a:t>
            </a:r>
          </a:p>
        </p:txBody>
      </p:sp>
      <p:sp>
        <p:nvSpPr>
          <p:cNvPr id="5" name="">
            <a:extLst xmlns:a="http://schemas.openxmlformats.org/drawingml/2006/main">
              <a:ext uri="{FF2B5EF4-FFF2-40B4-BE49-F238E27FC236}">
                <a16:creationId xmlns:a16="http://schemas.microsoft.com/office/drawing/2014/main" id="{F8529657-DC17-4BBE-972F-4F8F66BF7F7C}"/>
              </a:ext>
            </a:extLst>
          </p:cNvPr>
          <p:cNvSpPr>
            <a:spLocks xmlns:a="http://schemas.openxmlformats.org/drawingml/2006/main" noGrp="1"/>
          </p:cNvSpPr>
          <p:nvPr/>
        </p:nvSpPr>
        <p:spPr>
          <a:xfrm xmlns:a="http://schemas.openxmlformats.org/drawingml/2006/main">
            <a:off x="400050" y="327660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4ECC72E-1935-4A5E-A4F8-D36E09948A95}"/>
              </a:ext>
            </a:extLst>
          </p:cNvPr>
          <p:cNvSpPr>
            <a:spLocks xmlns:a="http://schemas.openxmlformats.org/drawingml/2006/main" noGrp="1"/>
          </p:cNvSpPr>
          <p:nvPr/>
        </p:nvSpPr>
        <p:spPr>
          <a:xfrm xmlns:a="http://schemas.openxmlformats.org/drawingml/2006/main">
            <a:off x="400050" y="37909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Ağı kur</a:t>
            </a:r>
          </a:p>
        </p:txBody>
      </p:sp>
      <p:sp>
        <p:nvSpPr>
          <p:cNvPr id="7" name="">
            <a:extLst xmlns:a="http://schemas.openxmlformats.org/drawingml/2006/main">
              <a:ext uri="{FF2B5EF4-FFF2-40B4-BE49-F238E27FC236}">
                <a16:creationId xmlns:a16="http://schemas.microsoft.com/office/drawing/2014/main" id="{889DCF52-5AB3-4F5B-BEE7-8CFF7F20EACD}"/>
              </a:ext>
            </a:extLst>
          </p:cNvPr>
          <p:cNvSpPr>
            <a:spLocks xmlns:a="http://schemas.openxmlformats.org/drawingml/2006/main" noGrp="1"/>
          </p:cNvSpPr>
          <p:nvPr/>
        </p:nvSpPr>
        <p:spPr>
          <a:xfrm xmlns:a="http://schemas.openxmlformats.org/drawingml/2006/main">
            <a:off x="400050" y="452437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karate_club_graph()</a:t>
            </a:r>
          </a:p>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34 düğüm, 78 kenar</a:t>
            </a:r>
          </a:p>
        </p:txBody>
      </p:sp>
      <p:sp>
        <p:nvSpPr>
          <p:cNvPr id="8" name="">
            <a:extLst xmlns:a="http://schemas.openxmlformats.org/drawingml/2006/main">
              <a:ext uri="{FF2B5EF4-FFF2-40B4-BE49-F238E27FC236}">
                <a16:creationId xmlns:a16="http://schemas.microsoft.com/office/drawing/2014/main" id="{58C5A029-9D14-449C-81C1-CE6A6D98F5B6}"/>
              </a:ext>
            </a:extLst>
          </p:cNvPr>
          <p:cNvSpPr>
            <a:spLocks xmlns:a="http://schemas.openxmlformats.org/drawingml/2006/main" noGrp="1"/>
          </p:cNvSpPr>
          <p:nvPr/>
        </p:nvSpPr>
        <p:spPr>
          <a:xfrm xmlns:a="http://schemas.openxmlformats.org/drawingml/2006/main">
            <a:off x="4305300" y="28194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B5563"/>
                </a:solidFill>
                <a:latin typeface="Arial"/>
                <a:ea typeface="Arial"/>
                <a:cs typeface="Arial"/>
              </a:defRPr>
            </a:pPr>
            <a:r>
              <a:rPr sz="1350" b="1">
                <a:solidFill>
                  <a:srgbClr val="4B5563"/>
                </a:solidFill>
                <a:latin typeface="Arial"/>
                <a:ea typeface="Arial"/>
                <a:cs typeface="Arial"/>
              </a:rPr>
              <a:t>02 • HESAPLA</a:t>
            </a:r>
          </a:p>
        </p:txBody>
      </p:sp>
      <p:sp>
        <p:nvSpPr>
          <p:cNvPr id="9" name="">
            <a:extLst xmlns:a="http://schemas.openxmlformats.org/drawingml/2006/main">
              <a:ext uri="{FF2B5EF4-FFF2-40B4-BE49-F238E27FC236}">
                <a16:creationId xmlns:a16="http://schemas.microsoft.com/office/drawing/2014/main" id="{8F76FC77-DA14-43E5-8477-A8EDD9ECD5D8}"/>
              </a:ext>
            </a:extLst>
          </p:cNvPr>
          <p:cNvSpPr>
            <a:spLocks xmlns:a="http://schemas.openxmlformats.org/drawingml/2006/main" noGrp="1"/>
          </p:cNvSpPr>
          <p:nvPr/>
        </p:nvSpPr>
        <p:spPr>
          <a:xfrm xmlns:a="http://schemas.openxmlformats.org/drawingml/2006/main">
            <a:off x="4305300" y="327660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74B1AD-44D9-429C-824D-AC5ED9AB24C6}"/>
              </a:ext>
            </a:extLst>
          </p:cNvPr>
          <p:cNvSpPr>
            <a:spLocks xmlns:a="http://schemas.openxmlformats.org/drawingml/2006/main" noGrp="1"/>
          </p:cNvSpPr>
          <p:nvPr/>
        </p:nvSpPr>
        <p:spPr>
          <a:xfrm xmlns:a="http://schemas.openxmlformats.org/drawingml/2006/main">
            <a:off x="4305300" y="37909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Ölçümleri üret</a:t>
            </a:r>
          </a:p>
        </p:txBody>
      </p:sp>
      <p:sp>
        <p:nvSpPr>
          <p:cNvPr id="11" name="">
            <a:extLst xmlns:a="http://schemas.openxmlformats.org/drawingml/2006/main">
              <a:ext uri="{FF2B5EF4-FFF2-40B4-BE49-F238E27FC236}">
                <a16:creationId xmlns:a16="http://schemas.microsoft.com/office/drawing/2014/main" id="{97E183F1-5001-4F03-AAE2-35BEEDE09B11}"/>
              </a:ext>
            </a:extLst>
          </p:cNvPr>
          <p:cNvSpPr>
            <a:spLocks xmlns:a="http://schemas.openxmlformats.org/drawingml/2006/main" noGrp="1"/>
          </p:cNvSpPr>
          <p:nvPr/>
        </p:nvSpPr>
        <p:spPr>
          <a:xfrm xmlns:a="http://schemas.openxmlformats.org/drawingml/2006/main">
            <a:off x="4305300" y="452437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Yoğunluk, kümelenme,</a:t>
            </a:r>
          </a:p>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merkezilik ve yollar</a:t>
            </a:r>
          </a:p>
        </p:txBody>
      </p:sp>
      <p:sp>
        <p:nvSpPr>
          <p:cNvPr id="12" name="">
            <a:extLst xmlns:a="http://schemas.openxmlformats.org/drawingml/2006/main">
              <a:ext uri="{FF2B5EF4-FFF2-40B4-BE49-F238E27FC236}">
                <a16:creationId xmlns:a16="http://schemas.microsoft.com/office/drawing/2014/main" id="{A2E62A93-C105-4F26-ABA9-3626ACCB0984}"/>
              </a:ext>
            </a:extLst>
          </p:cNvPr>
          <p:cNvSpPr>
            <a:spLocks xmlns:a="http://schemas.openxmlformats.org/drawingml/2006/main" noGrp="1"/>
          </p:cNvSpPr>
          <p:nvPr/>
        </p:nvSpPr>
        <p:spPr>
          <a:xfrm xmlns:a="http://schemas.openxmlformats.org/drawingml/2006/main">
            <a:off x="8229600" y="28194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B5563"/>
                </a:solidFill>
                <a:latin typeface="Arial"/>
                <a:ea typeface="Arial"/>
                <a:cs typeface="Arial"/>
              </a:defRPr>
            </a:pPr>
            <a:r>
              <a:rPr sz="1350" b="1">
                <a:solidFill>
                  <a:srgbClr val="4B5563"/>
                </a:solidFill>
                <a:latin typeface="Arial"/>
                <a:ea typeface="Arial"/>
                <a:cs typeface="Arial"/>
              </a:rPr>
              <a:t>03 • DOĞRULA</a:t>
            </a:r>
          </a:p>
        </p:txBody>
      </p:sp>
      <p:sp>
        <p:nvSpPr>
          <p:cNvPr id="13" name="">
            <a:extLst xmlns:a="http://schemas.openxmlformats.org/drawingml/2006/main">
              <a:ext uri="{FF2B5EF4-FFF2-40B4-BE49-F238E27FC236}">
                <a16:creationId xmlns:a16="http://schemas.microsoft.com/office/drawing/2014/main" id="{55EE4B3B-6EFF-4506-A7C3-B60287A93218}"/>
              </a:ext>
            </a:extLst>
          </p:cNvPr>
          <p:cNvSpPr>
            <a:spLocks xmlns:a="http://schemas.openxmlformats.org/drawingml/2006/main" noGrp="1"/>
          </p:cNvSpPr>
          <p:nvPr/>
        </p:nvSpPr>
        <p:spPr>
          <a:xfrm xmlns:a="http://schemas.openxmlformats.org/drawingml/2006/main">
            <a:off x="8229600" y="327660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9A6603-CE80-42CF-AC77-7ECAFB5200CB}"/>
              </a:ext>
            </a:extLst>
          </p:cNvPr>
          <p:cNvSpPr>
            <a:spLocks xmlns:a="http://schemas.openxmlformats.org/drawingml/2006/main" noGrp="1"/>
          </p:cNvSpPr>
          <p:nvPr/>
        </p:nvSpPr>
        <p:spPr>
          <a:xfrm xmlns:a="http://schemas.openxmlformats.org/drawingml/2006/main">
            <a:off x="8229600" y="37909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Toplulukları karşılaştır</a:t>
            </a:r>
          </a:p>
        </p:txBody>
      </p:sp>
      <p:sp>
        <p:nvSpPr>
          <p:cNvPr id="15" name="">
            <a:extLst xmlns:a="http://schemas.openxmlformats.org/drawingml/2006/main">
              <a:ext uri="{FF2B5EF4-FFF2-40B4-BE49-F238E27FC236}">
                <a16:creationId xmlns:a16="http://schemas.microsoft.com/office/drawing/2014/main" id="{8AA4FC87-6924-4ED5-95B5-F2FA6064CA7D}"/>
              </a:ext>
            </a:extLst>
          </p:cNvPr>
          <p:cNvSpPr>
            <a:spLocks xmlns:a="http://schemas.openxmlformats.org/drawingml/2006/main" noGrp="1"/>
          </p:cNvSpPr>
          <p:nvPr/>
        </p:nvSpPr>
        <p:spPr>
          <a:xfrm xmlns:a="http://schemas.openxmlformats.org/drawingml/2006/main">
            <a:off x="8229600" y="452437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Girvan-Newman,</a:t>
            </a:r>
          </a:p>
          <a:p xmlns:a="http://schemas.openxmlformats.org/drawingml/2006/main">
            <a:pPr algn="l">
              <a:defRPr sz="1575" b="0">
                <a:solidFill>
                  <a:srgbClr val="4B5563"/>
                </a:solidFill>
                <a:latin typeface="Arial"/>
                <a:ea typeface="Arial"/>
                <a:cs typeface="Arial"/>
              </a:defRPr>
            </a:pPr>
            <a:r>
              <a:rPr sz="1575" b="0">
                <a:solidFill>
                  <a:srgbClr val="4B5563"/>
                </a:solidFill>
                <a:latin typeface="Arial"/>
                <a:ea typeface="Arial"/>
                <a:cs typeface="Arial"/>
              </a:rPr>
              <a:t>doğruluk, ARI ve NMI</a:t>
            </a:r>
          </a:p>
        </p:txBody>
      </p:sp>
    </p:spTree>
    <p:extLst>
      <p:ext uri="{BB962C8B-B14F-4D97-AF65-F5344CB8AC3E}">
        <p14:creationId xmlns:p14="http://schemas.microsoft.com/office/powerpoint/2010/main" val="16389700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E013C6E-5D6C-4220-A990-A047B119E22B}"/>
              </a:ext>
            </a:extLst>
          </p:cNvPr>
          <p:cNvSpPr>
            <a:spLocks xmlns:a="http://schemas.openxmlformats.org/drawingml/2006/main" noGrp="1"/>
          </p:cNvSpPr>
          <p:nvPr/>
        </p:nvSpPr>
        <p:spPr>
          <a:xfrm xmlns:a="http://schemas.openxmlformats.org/drawingml/2006/main">
            <a:off x="390525" y="3905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4B5563"/>
                </a:solidFill>
                <a:latin typeface="Arial"/>
                <a:ea typeface="Arial"/>
                <a:cs typeface="Arial"/>
              </a:defRPr>
            </a:pPr>
            <a:r>
              <a:rPr sz="1800" b="1">
                <a:solidFill>
                  <a:srgbClr val="4B5563"/>
                </a:solidFill>
                <a:latin typeface="Arial"/>
                <a:ea typeface="Arial"/>
                <a:cs typeface="Arial"/>
              </a:rPr>
              <a:t>SONUÇ</a:t>
            </a:r>
          </a:p>
        </p:txBody>
      </p:sp>
      <p:sp>
        <p:nvSpPr>
          <p:cNvPr id="2" name="">
            <a:extLst xmlns:a="http://schemas.openxmlformats.org/drawingml/2006/main">
              <a:ext uri="{FF2B5EF4-FFF2-40B4-BE49-F238E27FC236}">
                <a16:creationId xmlns:a16="http://schemas.microsoft.com/office/drawing/2014/main" id="{82D7D127-1980-4F83-A373-E1F1B45E4817}"/>
              </a:ext>
            </a:extLst>
          </p:cNvPr>
          <p:cNvSpPr>
            <a:spLocks xmlns:a="http://schemas.openxmlformats.org/drawingml/2006/main" noGrp="1"/>
          </p:cNvSpPr>
          <p:nvPr/>
        </p:nvSpPr>
        <p:spPr>
          <a:xfrm xmlns:a="http://schemas.openxmlformats.org/drawingml/2006/main">
            <a:off x="390525" y="1571625"/>
            <a:ext cx="10287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250" b="1">
                <a:solidFill>
                  <a:srgbClr val="000000"/>
                </a:solidFill>
                <a:latin typeface="Arial"/>
                <a:ea typeface="Arial"/>
                <a:cs typeface="Arial"/>
              </a:defRPr>
            </a:pPr>
            <a:r>
              <a:rPr sz="5250" b="1">
                <a:solidFill>
                  <a:srgbClr val="000000"/>
                </a:solidFill>
                <a:latin typeface="Arial"/>
                <a:ea typeface="Arial"/>
                <a:cs typeface="Arial"/>
              </a:rPr>
              <a:t>Yaklaşan bölünme,</a:t>
            </a:r>
          </a:p>
          <a:p xmlns:a="http://schemas.openxmlformats.org/drawingml/2006/main">
            <a:pPr algn="l">
              <a:defRPr sz="5250" b="1">
                <a:solidFill>
                  <a:srgbClr val="000000"/>
                </a:solidFill>
                <a:latin typeface="Arial"/>
                <a:ea typeface="Arial"/>
                <a:cs typeface="Arial"/>
              </a:defRPr>
            </a:pPr>
            <a:r>
              <a:rPr sz="5250" b="1">
                <a:solidFill>
                  <a:srgbClr val="000000"/>
                </a:solidFill>
                <a:latin typeface="Arial"/>
                <a:ea typeface="Arial"/>
                <a:cs typeface="Arial"/>
              </a:rPr>
              <a:t>bağlantı örüntüsünde</a:t>
            </a:r>
          </a:p>
          <a:p xmlns:a="http://schemas.openxmlformats.org/drawingml/2006/main">
            <a:pPr algn="l">
              <a:defRPr sz="5250" b="1">
                <a:solidFill>
                  <a:srgbClr val="000000"/>
                </a:solidFill>
                <a:latin typeface="Arial"/>
                <a:ea typeface="Arial"/>
                <a:cs typeface="Arial"/>
              </a:defRPr>
            </a:pPr>
            <a:r>
              <a:rPr sz="5250" b="1">
                <a:solidFill>
                  <a:srgbClr val="000000"/>
                </a:solidFill>
                <a:latin typeface="Arial"/>
                <a:ea typeface="Arial"/>
                <a:cs typeface="Arial"/>
              </a:rPr>
              <a:t>önceden görünüyordu.</a:t>
            </a:r>
          </a:p>
        </p:txBody>
      </p:sp>
      <p:sp>
        <p:nvSpPr>
          <p:cNvPr id="3" name="">
            <a:extLst xmlns:a="http://schemas.openxmlformats.org/drawingml/2006/main">
              <a:ext uri="{FF2B5EF4-FFF2-40B4-BE49-F238E27FC236}">
                <a16:creationId xmlns:a16="http://schemas.microsoft.com/office/drawing/2014/main" id="{0A26F724-A022-41F0-8FE3-F1037C2096EE}"/>
              </a:ext>
            </a:extLst>
          </p:cNvPr>
          <p:cNvSpPr>
            <a:spLocks xmlns:a="http://schemas.openxmlformats.org/drawingml/2006/main" noGrp="1"/>
          </p:cNvSpPr>
          <p:nvPr/>
        </p:nvSpPr>
        <p:spPr>
          <a:xfrm xmlns:a="http://schemas.openxmlformats.org/drawingml/2006/main">
            <a:off x="390525" y="514350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Ağ yapısı → köprü roller → %94,1 topluluk uyumu</a:t>
            </a:r>
          </a:p>
        </p:txBody>
      </p:sp>
    </p:spTree>
    <p:extLst>
      <p:ext uri="{BB962C8B-B14F-4D97-AF65-F5344CB8AC3E}">
        <p14:creationId xmlns:p14="http://schemas.microsoft.com/office/powerpoint/2010/main" val="655423636"/>
      </p:ext>
    </p:extLst>
  </p:cSld>
</p:sld>
</file>

<file path=ppt/theme/theme1.xml><?xml version="1.0" encoding="utf-8"?>
<a:theme xmlns:a="http://schemas.openxmlformats.org/drawingml/2006/main" name="Karate Project">
  <a:themeElements>
    <a:clrScheme name="Karate Projec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Karate Projec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2026-08-11T09:42:46.4560000Z</dcterms:created>
  <dcterms:modified xsi:type="dcterms:W3CDTF">2026-08-11T09:42:46.4570000Z</dcterms:modified>
</coreProperties>
</file>